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Lst>
  <p:sldSz cx="7562850"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81"/>
    <p:restoredTop sz="94719"/>
  </p:normalViewPr>
  <p:slideViewPr>
    <p:cSldViewPr snapToGrid="0">
      <p:cViewPr>
        <p:scale>
          <a:sx n="140" d="100"/>
          <a:sy n="140" d="100"/>
        </p:scale>
        <p:origin x="1328" y="-40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CE1749-C37E-BE48-84DF-3BC84B5DFD2F}" type="doc">
      <dgm:prSet loTypeId="urn:microsoft.com/office/officeart/2005/8/layout/balance1" loCatId="" qsTypeId="urn:microsoft.com/office/officeart/2005/8/quickstyle/simple1" qsCatId="simple" csTypeId="urn:microsoft.com/office/officeart/2005/8/colors/accent1_2" csCatId="accent1" phldr="0"/>
      <dgm:spPr/>
      <dgm:t>
        <a:bodyPr/>
        <a:lstStyle/>
        <a:p>
          <a:endParaRPr lang="en-US"/>
        </a:p>
      </dgm:t>
    </dgm:pt>
    <dgm:pt modelId="{6A9FB8A9-6974-F844-9236-4397DB064011}" type="pres">
      <dgm:prSet presAssocID="{33CE1749-C37E-BE48-84DF-3BC84B5DFD2F}" presName="outerComposite" presStyleCnt="0">
        <dgm:presLayoutVars>
          <dgm:chMax val="2"/>
          <dgm:animLvl val="lvl"/>
          <dgm:resizeHandles val="exact"/>
        </dgm:presLayoutVars>
      </dgm:prSet>
      <dgm:spPr/>
    </dgm:pt>
    <dgm:pt modelId="{5CCE9538-3F49-534D-9790-554BE589B2B0}" type="pres">
      <dgm:prSet presAssocID="{33CE1749-C37E-BE48-84DF-3BC84B5DFD2F}" presName="dummyMaxCanvas" presStyleCnt="0"/>
      <dgm:spPr/>
    </dgm:pt>
    <dgm:pt modelId="{7C3ECABE-B77F-9141-A37E-9FAF9655DE7E}" type="pres">
      <dgm:prSet presAssocID="{33CE1749-C37E-BE48-84DF-3BC84B5DFD2F}" presName="parentComposite" presStyleCnt="0"/>
      <dgm:spPr/>
    </dgm:pt>
    <dgm:pt modelId="{405260D2-81AF-9840-8A64-9912439A1CD1}" type="pres">
      <dgm:prSet presAssocID="{33CE1749-C37E-BE48-84DF-3BC84B5DFD2F}" presName="parent1" presStyleLbl="alignAccFollowNode1" presStyleIdx="0" presStyleCnt="4">
        <dgm:presLayoutVars>
          <dgm:chMax val="4"/>
        </dgm:presLayoutVars>
      </dgm:prSet>
      <dgm:spPr>
        <a:noFill/>
        <a:ln>
          <a:noFill/>
        </a:ln>
      </dgm:spPr>
    </dgm:pt>
    <dgm:pt modelId="{D5077514-6BF0-1A46-B4D5-9D7356F24782}" type="pres">
      <dgm:prSet presAssocID="{33CE1749-C37E-BE48-84DF-3BC84B5DFD2F}" presName="parent2" presStyleLbl="alignAccFollowNode1" presStyleIdx="1" presStyleCnt="4">
        <dgm:presLayoutVars>
          <dgm:chMax val="4"/>
        </dgm:presLayoutVars>
      </dgm:prSet>
      <dgm:spPr>
        <a:noFill/>
        <a:ln>
          <a:noFill/>
        </a:ln>
      </dgm:spPr>
    </dgm:pt>
    <dgm:pt modelId="{26EA73A6-2A63-1E41-A11D-5B564CBCC4FC}" type="pres">
      <dgm:prSet presAssocID="{33CE1749-C37E-BE48-84DF-3BC84B5DFD2F}" presName="childrenComposite" presStyleCnt="0"/>
      <dgm:spPr/>
    </dgm:pt>
    <dgm:pt modelId="{05EC9A12-239A-C345-8353-3E9DCF864520}" type="pres">
      <dgm:prSet presAssocID="{33CE1749-C37E-BE48-84DF-3BC84B5DFD2F}" presName="dummyMaxCanvas_ChildArea" presStyleCnt="0"/>
      <dgm:spPr/>
    </dgm:pt>
    <dgm:pt modelId="{234D9022-7E9A-E145-9946-2CAC4594F9DA}" type="pres">
      <dgm:prSet presAssocID="{33CE1749-C37E-BE48-84DF-3BC84B5DFD2F}" presName="fulcrum" presStyleLbl="alignAccFollowNode1" presStyleIdx="2" presStyleCnt="4"/>
      <dgm:spPr>
        <a:solidFill>
          <a:schemeClr val="tx2">
            <a:alpha val="90000"/>
          </a:schemeClr>
        </a:solidFill>
        <a:ln>
          <a:noFill/>
        </a:ln>
      </dgm:spPr>
    </dgm:pt>
    <dgm:pt modelId="{261798AF-49F9-FA4B-BF84-FD023442517A}" type="pres">
      <dgm:prSet presAssocID="{33CE1749-C37E-BE48-84DF-3BC84B5DFD2F}" presName="balance_00" presStyleLbl="alignAccFollowNode1" presStyleIdx="3" presStyleCnt="4" custAng="780000">
        <dgm:presLayoutVars>
          <dgm:bulletEnabled val="1"/>
        </dgm:presLayoutVars>
      </dgm:prSet>
      <dgm:spPr>
        <a:solidFill>
          <a:schemeClr val="tx2">
            <a:alpha val="90000"/>
          </a:schemeClr>
        </a:solidFill>
        <a:ln>
          <a:noFill/>
        </a:ln>
      </dgm:spPr>
    </dgm:pt>
  </dgm:ptLst>
  <dgm:cxnLst>
    <dgm:cxn modelId="{EBE8CB68-3EB9-4645-8799-98EF1F04CA94}" type="presOf" srcId="{33CE1749-C37E-BE48-84DF-3BC84B5DFD2F}" destId="{6A9FB8A9-6974-F844-9236-4397DB064011}" srcOrd="0" destOrd="0" presId="urn:microsoft.com/office/officeart/2005/8/layout/balance1"/>
    <dgm:cxn modelId="{38666544-6326-5847-879E-57C239591E43}" type="presParOf" srcId="{6A9FB8A9-6974-F844-9236-4397DB064011}" destId="{5CCE9538-3F49-534D-9790-554BE589B2B0}" srcOrd="0" destOrd="0" presId="urn:microsoft.com/office/officeart/2005/8/layout/balance1"/>
    <dgm:cxn modelId="{7C8A72F6-09A0-CE47-B2B9-D0C313C2029B}" type="presParOf" srcId="{6A9FB8A9-6974-F844-9236-4397DB064011}" destId="{7C3ECABE-B77F-9141-A37E-9FAF9655DE7E}" srcOrd="1" destOrd="0" presId="urn:microsoft.com/office/officeart/2005/8/layout/balance1"/>
    <dgm:cxn modelId="{5E9BCEE1-ED3E-CD43-B0DC-11E9A30528B0}" type="presParOf" srcId="{7C3ECABE-B77F-9141-A37E-9FAF9655DE7E}" destId="{405260D2-81AF-9840-8A64-9912439A1CD1}" srcOrd="0" destOrd="0" presId="urn:microsoft.com/office/officeart/2005/8/layout/balance1"/>
    <dgm:cxn modelId="{4CEF3761-7FFA-5E49-BD86-BA76FBB5EEA0}" type="presParOf" srcId="{7C3ECABE-B77F-9141-A37E-9FAF9655DE7E}" destId="{D5077514-6BF0-1A46-B4D5-9D7356F24782}" srcOrd="1" destOrd="0" presId="urn:microsoft.com/office/officeart/2005/8/layout/balance1"/>
    <dgm:cxn modelId="{BD03BB9D-6231-7D4C-8B98-E2986AC173A1}" type="presParOf" srcId="{6A9FB8A9-6974-F844-9236-4397DB064011}" destId="{26EA73A6-2A63-1E41-A11D-5B564CBCC4FC}" srcOrd="2" destOrd="0" presId="urn:microsoft.com/office/officeart/2005/8/layout/balance1"/>
    <dgm:cxn modelId="{C889F037-ECE5-5541-A654-8B266B50065B}" type="presParOf" srcId="{26EA73A6-2A63-1E41-A11D-5B564CBCC4FC}" destId="{05EC9A12-239A-C345-8353-3E9DCF864520}" srcOrd="0" destOrd="0" presId="urn:microsoft.com/office/officeart/2005/8/layout/balance1"/>
    <dgm:cxn modelId="{60E2856E-039E-2845-BEE6-34FF8718ED9C}" type="presParOf" srcId="{26EA73A6-2A63-1E41-A11D-5B564CBCC4FC}" destId="{234D9022-7E9A-E145-9946-2CAC4594F9DA}" srcOrd="1" destOrd="0" presId="urn:microsoft.com/office/officeart/2005/8/layout/balance1"/>
    <dgm:cxn modelId="{0EDB9E71-E4EF-D943-A835-F9CD52EB41D5}" type="presParOf" srcId="{26EA73A6-2A63-1E41-A11D-5B564CBCC4FC}" destId="{261798AF-49F9-FA4B-BF84-FD023442517A}" srcOrd="2" destOrd="0" presId="urn:microsoft.com/office/officeart/2005/8/layout/balance1"/>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5260D2-81AF-9840-8A64-9912439A1CD1}">
      <dsp:nvSpPr>
        <dsp:cNvPr id="0" name=""/>
        <dsp:cNvSpPr/>
      </dsp:nvSpPr>
      <dsp:spPr>
        <a:xfrm>
          <a:off x="1041992" y="0"/>
          <a:ext cx="1210056" cy="672253"/>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5077514-6BF0-1A46-B4D5-9D7356F24782}">
      <dsp:nvSpPr>
        <dsp:cNvPr id="0" name=""/>
        <dsp:cNvSpPr/>
      </dsp:nvSpPr>
      <dsp:spPr>
        <a:xfrm>
          <a:off x="2789851" y="0"/>
          <a:ext cx="1210056" cy="672253"/>
        </a:xfrm>
        <a:prstGeom prst="roundRect">
          <a:avLst>
            <a:gd name="adj" fmla="val 10000"/>
          </a:avLst>
        </a:prstGeom>
        <a:no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34D9022-7E9A-E145-9946-2CAC4594F9DA}">
      <dsp:nvSpPr>
        <dsp:cNvPr id="0" name=""/>
        <dsp:cNvSpPr/>
      </dsp:nvSpPr>
      <dsp:spPr>
        <a:xfrm>
          <a:off x="2268854" y="2857076"/>
          <a:ext cx="504190" cy="504190"/>
        </a:xfrm>
        <a:prstGeom prst="triangle">
          <a:avLst/>
        </a:prstGeom>
        <a:solidFill>
          <a:schemeClr val="tx2">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261798AF-49F9-FA4B-BF84-FD023442517A}">
      <dsp:nvSpPr>
        <dsp:cNvPr id="0" name=""/>
        <dsp:cNvSpPr/>
      </dsp:nvSpPr>
      <dsp:spPr>
        <a:xfrm rot="780000">
          <a:off x="1008379" y="2645989"/>
          <a:ext cx="3025140" cy="204365"/>
        </a:xfrm>
        <a:prstGeom prst="rect">
          <a:avLst/>
        </a:prstGeom>
        <a:solidFill>
          <a:schemeClr val="tx2">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7214" y="1749275"/>
            <a:ext cx="6428423" cy="3721230"/>
          </a:xfrm>
        </p:spPr>
        <p:txBody>
          <a:bodyPr anchor="b"/>
          <a:lstStyle>
            <a:lvl1pPr algn="ctr">
              <a:defRPr sz="4963"/>
            </a:lvl1pPr>
          </a:lstStyle>
          <a:p>
            <a:r>
              <a:rPr lang="en-US"/>
              <a:t>Click to edit Master title style</a:t>
            </a:r>
            <a:endParaRPr lang="en-US" dirty="0"/>
          </a:p>
        </p:txBody>
      </p:sp>
      <p:sp>
        <p:nvSpPr>
          <p:cNvPr id="3" name="Subtitle 2"/>
          <p:cNvSpPr>
            <a:spLocks noGrp="1"/>
          </p:cNvSpPr>
          <p:nvPr>
            <p:ph type="subTitle" idx="1"/>
          </p:nvPr>
        </p:nvSpPr>
        <p:spPr>
          <a:xfrm>
            <a:off x="945356" y="5614010"/>
            <a:ext cx="5672138" cy="2580613"/>
          </a:xfrm>
        </p:spPr>
        <p:txBody>
          <a:bodyPr/>
          <a:lstStyle>
            <a:lvl1pPr marL="0" indent="0" algn="ctr">
              <a:buNone/>
              <a:defRPr sz="1985"/>
            </a:lvl1pPr>
            <a:lvl2pPr marL="378150" indent="0" algn="ctr">
              <a:buNone/>
              <a:defRPr sz="1654"/>
            </a:lvl2pPr>
            <a:lvl3pPr marL="756300" indent="0" algn="ctr">
              <a:buNone/>
              <a:defRPr sz="1489"/>
            </a:lvl3pPr>
            <a:lvl4pPr marL="1134450" indent="0" algn="ctr">
              <a:buNone/>
              <a:defRPr sz="1323"/>
            </a:lvl4pPr>
            <a:lvl5pPr marL="1512600" indent="0" algn="ctr">
              <a:buNone/>
              <a:defRPr sz="1323"/>
            </a:lvl5pPr>
            <a:lvl6pPr marL="1890751" indent="0" algn="ctr">
              <a:buNone/>
              <a:defRPr sz="1323"/>
            </a:lvl6pPr>
            <a:lvl7pPr marL="2268901" indent="0" algn="ctr">
              <a:buNone/>
              <a:defRPr sz="1323"/>
            </a:lvl7pPr>
            <a:lvl8pPr marL="2647051" indent="0" algn="ctr">
              <a:buNone/>
              <a:defRPr sz="1323"/>
            </a:lvl8pPr>
            <a:lvl9pPr marL="3025201"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AD9FCD-BFC7-154C-BA8B-175E3F26DA76}"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3379824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AD9FCD-BFC7-154C-BA8B-175E3F26DA76}"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2441259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6007" y="2664740"/>
            <a:ext cx="6522958" cy="4446176"/>
          </a:xfrm>
        </p:spPr>
        <p:txBody>
          <a:bodyPr anchor="b"/>
          <a:lstStyle>
            <a:lvl1pPr>
              <a:defRPr sz="4963"/>
            </a:lvl1pPr>
          </a:lstStyle>
          <a:p>
            <a:r>
              <a:rPr lang="en-US"/>
              <a:t>Click to edit Master title style</a:t>
            </a:r>
            <a:endParaRPr lang="en-US" dirty="0"/>
          </a:p>
        </p:txBody>
      </p:sp>
      <p:sp>
        <p:nvSpPr>
          <p:cNvPr id="3" name="Text Placeholder 2"/>
          <p:cNvSpPr>
            <a:spLocks noGrp="1"/>
          </p:cNvSpPr>
          <p:nvPr>
            <p:ph type="body" idx="1"/>
          </p:nvPr>
        </p:nvSpPr>
        <p:spPr>
          <a:xfrm>
            <a:off x="516007" y="7152978"/>
            <a:ext cx="6522958" cy="2338139"/>
          </a:xfrm>
        </p:spPr>
        <p:txBody>
          <a:bodyPr/>
          <a:lstStyle>
            <a:lvl1pPr marL="0" indent="0">
              <a:buNone/>
              <a:defRPr sz="1985">
                <a:solidFill>
                  <a:schemeClr val="tx1">
                    <a:tint val="82000"/>
                  </a:schemeClr>
                </a:solidFill>
              </a:defRPr>
            </a:lvl1pPr>
            <a:lvl2pPr marL="378150" indent="0">
              <a:buNone/>
              <a:defRPr sz="1654">
                <a:solidFill>
                  <a:schemeClr val="tx1">
                    <a:tint val="82000"/>
                  </a:schemeClr>
                </a:solidFill>
              </a:defRPr>
            </a:lvl2pPr>
            <a:lvl3pPr marL="756300" indent="0">
              <a:buNone/>
              <a:defRPr sz="1489">
                <a:solidFill>
                  <a:schemeClr val="tx1">
                    <a:tint val="82000"/>
                  </a:schemeClr>
                </a:solidFill>
              </a:defRPr>
            </a:lvl3pPr>
            <a:lvl4pPr marL="1134450" indent="0">
              <a:buNone/>
              <a:defRPr sz="1323">
                <a:solidFill>
                  <a:schemeClr val="tx1">
                    <a:tint val="82000"/>
                  </a:schemeClr>
                </a:solidFill>
              </a:defRPr>
            </a:lvl4pPr>
            <a:lvl5pPr marL="1512600" indent="0">
              <a:buNone/>
              <a:defRPr sz="1323">
                <a:solidFill>
                  <a:schemeClr val="tx1">
                    <a:tint val="82000"/>
                  </a:schemeClr>
                </a:solidFill>
              </a:defRPr>
            </a:lvl5pPr>
            <a:lvl6pPr marL="1890751" indent="0">
              <a:buNone/>
              <a:defRPr sz="1323">
                <a:solidFill>
                  <a:schemeClr val="tx1">
                    <a:tint val="82000"/>
                  </a:schemeClr>
                </a:solidFill>
              </a:defRPr>
            </a:lvl6pPr>
            <a:lvl7pPr marL="2268901" indent="0">
              <a:buNone/>
              <a:defRPr sz="1323">
                <a:solidFill>
                  <a:schemeClr val="tx1">
                    <a:tint val="82000"/>
                  </a:schemeClr>
                </a:solidFill>
              </a:defRPr>
            </a:lvl7pPr>
            <a:lvl8pPr marL="2647051" indent="0">
              <a:buNone/>
              <a:defRPr sz="1323">
                <a:solidFill>
                  <a:schemeClr val="tx1">
                    <a:tint val="82000"/>
                  </a:schemeClr>
                </a:solidFill>
              </a:defRPr>
            </a:lvl8pPr>
            <a:lvl9pPr marL="3025201" indent="0">
              <a:buNone/>
              <a:defRPr sz="132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AD9FCD-BFC7-154C-BA8B-175E3F26DA76}"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1580677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946"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8693" y="2845355"/>
            <a:ext cx="3214211" cy="67818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AD9FCD-BFC7-154C-BA8B-175E3F26DA76}"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621399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931" y="569073"/>
            <a:ext cx="6522958" cy="20659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932" y="2620202"/>
            <a:ext cx="3199440"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4" name="Content Placeholder 3"/>
          <p:cNvSpPr>
            <a:spLocks noGrp="1"/>
          </p:cNvSpPr>
          <p:nvPr>
            <p:ph sz="half" idx="2"/>
          </p:nvPr>
        </p:nvSpPr>
        <p:spPr>
          <a:xfrm>
            <a:off x="520932" y="3904322"/>
            <a:ext cx="3199440"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8693" y="2620202"/>
            <a:ext cx="3215196" cy="1284120"/>
          </a:xfrm>
        </p:spPr>
        <p:txBody>
          <a:bodyPr anchor="b"/>
          <a:lstStyle>
            <a:lvl1pPr marL="0" indent="0">
              <a:buNone/>
              <a:defRPr sz="1985" b="1"/>
            </a:lvl1pPr>
            <a:lvl2pPr marL="378150" indent="0">
              <a:buNone/>
              <a:defRPr sz="1654" b="1"/>
            </a:lvl2pPr>
            <a:lvl3pPr marL="756300" indent="0">
              <a:buNone/>
              <a:defRPr sz="1489" b="1"/>
            </a:lvl3pPr>
            <a:lvl4pPr marL="1134450" indent="0">
              <a:buNone/>
              <a:defRPr sz="1323" b="1"/>
            </a:lvl4pPr>
            <a:lvl5pPr marL="1512600" indent="0">
              <a:buNone/>
              <a:defRPr sz="1323" b="1"/>
            </a:lvl5pPr>
            <a:lvl6pPr marL="1890751" indent="0">
              <a:buNone/>
              <a:defRPr sz="1323" b="1"/>
            </a:lvl6pPr>
            <a:lvl7pPr marL="2268901" indent="0">
              <a:buNone/>
              <a:defRPr sz="1323" b="1"/>
            </a:lvl7pPr>
            <a:lvl8pPr marL="2647051" indent="0">
              <a:buNone/>
              <a:defRPr sz="1323" b="1"/>
            </a:lvl8pPr>
            <a:lvl9pPr marL="3025201"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8693" y="3904322"/>
            <a:ext cx="3215196" cy="57426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AD9FCD-BFC7-154C-BA8B-175E3F26DA76}" type="datetimeFigureOut">
              <a:rPr lang="en-US" smtClean="0"/>
              <a:t>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1443741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AD9FCD-BFC7-154C-BA8B-175E3F26DA76}" type="datetimeFigureOut">
              <a:rPr lang="en-US" smtClean="0"/>
              <a:t>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1285214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D9FCD-BFC7-154C-BA8B-175E3F26DA76}" type="datetimeFigureOut">
              <a:rPr lang="en-US" smtClean="0"/>
              <a:t>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465167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Content Placeholder 2"/>
          <p:cNvSpPr>
            <a:spLocks noGrp="1"/>
          </p:cNvSpPr>
          <p:nvPr>
            <p:ph idx="1"/>
          </p:nvPr>
        </p:nvSpPr>
        <p:spPr>
          <a:xfrm>
            <a:off x="3215196" y="1538968"/>
            <a:ext cx="3828693" cy="7595861"/>
          </a:xfrm>
        </p:spPr>
        <p:txBody>
          <a:bodyPr/>
          <a:lstStyle>
            <a:lvl1pPr>
              <a:defRPr sz="2647"/>
            </a:lvl1pPr>
            <a:lvl2pPr>
              <a:defRPr sz="2316"/>
            </a:lvl2pPr>
            <a:lvl3pPr>
              <a:defRPr sz="1985"/>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E6AD9FCD-BFC7-154C-BA8B-175E3F26DA76}"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53761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931" y="712576"/>
            <a:ext cx="2439216" cy="2494016"/>
          </a:xfrm>
        </p:spPr>
        <p:txBody>
          <a:bodyPr anchor="b"/>
          <a:lstStyle>
            <a:lvl1pPr>
              <a:defRPr sz="2647"/>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5196" y="1538968"/>
            <a:ext cx="3828693" cy="7595861"/>
          </a:xfrm>
        </p:spPr>
        <p:txBody>
          <a:bodyPr anchor="t"/>
          <a:lstStyle>
            <a:lvl1pPr marL="0" indent="0">
              <a:buNone/>
              <a:defRPr sz="2647"/>
            </a:lvl1pPr>
            <a:lvl2pPr marL="378150" indent="0">
              <a:buNone/>
              <a:defRPr sz="2316"/>
            </a:lvl2pPr>
            <a:lvl3pPr marL="756300" indent="0">
              <a:buNone/>
              <a:defRPr sz="1985"/>
            </a:lvl3pPr>
            <a:lvl4pPr marL="1134450" indent="0">
              <a:buNone/>
              <a:defRPr sz="1654"/>
            </a:lvl4pPr>
            <a:lvl5pPr marL="1512600" indent="0">
              <a:buNone/>
              <a:defRPr sz="1654"/>
            </a:lvl5pPr>
            <a:lvl6pPr marL="1890751" indent="0">
              <a:buNone/>
              <a:defRPr sz="1654"/>
            </a:lvl6pPr>
            <a:lvl7pPr marL="2268901" indent="0">
              <a:buNone/>
              <a:defRPr sz="1654"/>
            </a:lvl7pPr>
            <a:lvl8pPr marL="2647051" indent="0">
              <a:buNone/>
              <a:defRPr sz="1654"/>
            </a:lvl8pPr>
            <a:lvl9pPr marL="3025201"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520931" y="3206592"/>
            <a:ext cx="2439216" cy="5940607"/>
          </a:xfrm>
        </p:spPr>
        <p:txBody>
          <a:bodyPr/>
          <a:lstStyle>
            <a:lvl1pPr marL="0" indent="0">
              <a:buNone/>
              <a:defRPr sz="1323"/>
            </a:lvl1pPr>
            <a:lvl2pPr marL="378150" indent="0">
              <a:buNone/>
              <a:defRPr sz="1158"/>
            </a:lvl2pPr>
            <a:lvl3pPr marL="756300" indent="0">
              <a:buNone/>
              <a:defRPr sz="993"/>
            </a:lvl3pPr>
            <a:lvl4pPr marL="1134450" indent="0">
              <a:buNone/>
              <a:defRPr sz="827"/>
            </a:lvl4pPr>
            <a:lvl5pPr marL="1512600" indent="0">
              <a:buNone/>
              <a:defRPr sz="827"/>
            </a:lvl5pPr>
            <a:lvl6pPr marL="1890751" indent="0">
              <a:buNone/>
              <a:defRPr sz="827"/>
            </a:lvl6pPr>
            <a:lvl7pPr marL="2268901" indent="0">
              <a:buNone/>
              <a:defRPr sz="827"/>
            </a:lvl7pPr>
            <a:lvl8pPr marL="2647051" indent="0">
              <a:buNone/>
              <a:defRPr sz="827"/>
            </a:lvl8pPr>
            <a:lvl9pPr marL="3025201"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E6AD9FCD-BFC7-154C-BA8B-175E3F26DA76}"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74043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AD9FCD-BFC7-154C-BA8B-175E3F26DA76}"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183042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12165" y="569071"/>
            <a:ext cx="1630740" cy="905812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946" y="569071"/>
            <a:ext cx="4797683" cy="90581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AD9FCD-BFC7-154C-BA8B-175E3F26DA76}"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85FD34-EA62-064B-ACB7-2B5C1D004D77}" type="slidenum">
              <a:rPr lang="en-US" smtClean="0"/>
              <a:t>‹#›</a:t>
            </a:fld>
            <a:endParaRPr lang="en-US"/>
          </a:p>
        </p:txBody>
      </p:sp>
    </p:spTree>
    <p:extLst>
      <p:ext uri="{BB962C8B-B14F-4D97-AF65-F5344CB8AC3E}">
        <p14:creationId xmlns:p14="http://schemas.microsoft.com/office/powerpoint/2010/main" val="155131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946" y="569073"/>
            <a:ext cx="6522958" cy="20659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946" y="2845355"/>
            <a:ext cx="6522958" cy="67818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946" y="9906786"/>
            <a:ext cx="1701641" cy="569071"/>
          </a:xfrm>
          <a:prstGeom prst="rect">
            <a:avLst/>
          </a:prstGeom>
        </p:spPr>
        <p:txBody>
          <a:bodyPr vert="horz" lIns="91440" tIns="45720" rIns="91440" bIns="45720" rtlCol="0" anchor="ctr"/>
          <a:lstStyle>
            <a:lvl1pPr algn="l">
              <a:defRPr sz="993">
                <a:solidFill>
                  <a:schemeClr val="tx1">
                    <a:tint val="82000"/>
                  </a:schemeClr>
                </a:solidFill>
              </a:defRPr>
            </a:lvl1pPr>
          </a:lstStyle>
          <a:p>
            <a:fld id="{E6AD9FCD-BFC7-154C-BA8B-175E3F26DA76}" type="datetimeFigureOut">
              <a:rPr lang="en-US" smtClean="0"/>
              <a:t>2/8/26</a:t>
            </a:fld>
            <a:endParaRPr lang="en-US"/>
          </a:p>
        </p:txBody>
      </p:sp>
      <p:sp>
        <p:nvSpPr>
          <p:cNvPr id="5" name="Footer Placeholder 4"/>
          <p:cNvSpPr>
            <a:spLocks noGrp="1"/>
          </p:cNvSpPr>
          <p:nvPr>
            <p:ph type="ftr" sz="quarter" idx="3"/>
          </p:nvPr>
        </p:nvSpPr>
        <p:spPr>
          <a:xfrm>
            <a:off x="2505194" y="9906786"/>
            <a:ext cx="2552462" cy="569071"/>
          </a:xfrm>
          <a:prstGeom prst="rect">
            <a:avLst/>
          </a:prstGeom>
        </p:spPr>
        <p:txBody>
          <a:bodyPr vert="horz" lIns="91440" tIns="45720" rIns="91440" bIns="45720" rtlCol="0" anchor="ctr"/>
          <a:lstStyle>
            <a:lvl1pPr algn="ctr">
              <a:defRPr sz="99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341263" y="9906786"/>
            <a:ext cx="1701641" cy="569071"/>
          </a:xfrm>
          <a:prstGeom prst="rect">
            <a:avLst/>
          </a:prstGeom>
        </p:spPr>
        <p:txBody>
          <a:bodyPr vert="horz" lIns="91440" tIns="45720" rIns="91440" bIns="45720" rtlCol="0" anchor="ctr"/>
          <a:lstStyle>
            <a:lvl1pPr algn="r">
              <a:defRPr sz="993">
                <a:solidFill>
                  <a:schemeClr val="tx1">
                    <a:tint val="82000"/>
                  </a:schemeClr>
                </a:solidFill>
              </a:defRPr>
            </a:lvl1pPr>
          </a:lstStyle>
          <a:p>
            <a:fld id="{6885FD34-EA62-064B-ACB7-2B5C1D004D77}" type="slidenum">
              <a:rPr lang="en-US" smtClean="0"/>
              <a:t>‹#›</a:t>
            </a:fld>
            <a:endParaRPr lang="en-US"/>
          </a:p>
        </p:txBody>
      </p:sp>
    </p:spTree>
    <p:extLst>
      <p:ext uri="{BB962C8B-B14F-4D97-AF65-F5344CB8AC3E}">
        <p14:creationId xmlns:p14="http://schemas.microsoft.com/office/powerpoint/2010/main" val="304235121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756300" rtl="0" eaLnBrk="1" latinLnBrk="0" hangingPunct="1">
        <a:lnSpc>
          <a:spcPct val="90000"/>
        </a:lnSpc>
        <a:spcBef>
          <a:spcPct val="0"/>
        </a:spcBef>
        <a:buNone/>
        <a:defRPr sz="3639" kern="1200">
          <a:solidFill>
            <a:schemeClr val="tx1"/>
          </a:solidFill>
          <a:latin typeface="+mj-lt"/>
          <a:ea typeface="+mj-ea"/>
          <a:cs typeface="+mj-cs"/>
        </a:defRPr>
      </a:lvl1pPr>
    </p:titleStyle>
    <p:bodyStyle>
      <a:lvl1pPr marL="189075" indent="-189075" algn="l" defTabSz="756300" rtl="0" eaLnBrk="1" latinLnBrk="0" hangingPunct="1">
        <a:lnSpc>
          <a:spcPct val="90000"/>
        </a:lnSpc>
        <a:spcBef>
          <a:spcPts val="827"/>
        </a:spcBef>
        <a:buFont typeface="Arial" panose="020B0604020202020204" pitchFamily="34" charset="0"/>
        <a:buChar char="•"/>
        <a:defRPr sz="2316" kern="1200">
          <a:solidFill>
            <a:schemeClr val="tx1"/>
          </a:solidFill>
          <a:latin typeface="+mn-lt"/>
          <a:ea typeface="+mn-ea"/>
          <a:cs typeface="+mn-cs"/>
        </a:defRPr>
      </a:lvl1pPr>
      <a:lvl2pPr marL="567225" indent="-189075" algn="l" defTabSz="756300" rtl="0" eaLnBrk="1" latinLnBrk="0" hangingPunct="1">
        <a:lnSpc>
          <a:spcPct val="90000"/>
        </a:lnSpc>
        <a:spcBef>
          <a:spcPts val="414"/>
        </a:spcBef>
        <a:buFont typeface="Arial" panose="020B0604020202020204" pitchFamily="34" charset="0"/>
        <a:buChar char="•"/>
        <a:defRPr sz="1985" kern="1200">
          <a:solidFill>
            <a:schemeClr val="tx1"/>
          </a:solidFill>
          <a:latin typeface="+mn-lt"/>
          <a:ea typeface="+mn-ea"/>
          <a:cs typeface="+mn-cs"/>
        </a:defRPr>
      </a:lvl2pPr>
      <a:lvl3pPr marL="945375" indent="-189075" algn="l" defTabSz="756300" rtl="0" eaLnBrk="1" latinLnBrk="0" hangingPunct="1">
        <a:lnSpc>
          <a:spcPct val="90000"/>
        </a:lnSpc>
        <a:spcBef>
          <a:spcPts val="414"/>
        </a:spcBef>
        <a:buFont typeface="Arial" panose="020B0604020202020204" pitchFamily="34" charset="0"/>
        <a:buChar char="•"/>
        <a:defRPr sz="1654" kern="1200">
          <a:solidFill>
            <a:schemeClr val="tx1"/>
          </a:solidFill>
          <a:latin typeface="+mn-lt"/>
          <a:ea typeface="+mn-ea"/>
          <a:cs typeface="+mn-cs"/>
        </a:defRPr>
      </a:lvl3pPr>
      <a:lvl4pPr marL="1323525"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4pPr>
      <a:lvl5pPr marL="17016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5pPr>
      <a:lvl6pPr marL="20798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6pPr>
      <a:lvl7pPr marL="24579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7pPr>
      <a:lvl8pPr marL="283612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8pPr>
      <a:lvl9pPr marL="3214276" indent="-189075" algn="l" defTabSz="756300" rtl="0" eaLnBrk="1" latinLnBrk="0" hangingPunct="1">
        <a:lnSpc>
          <a:spcPct val="90000"/>
        </a:lnSpc>
        <a:spcBef>
          <a:spcPts val="414"/>
        </a:spcBef>
        <a:buFont typeface="Arial" panose="020B0604020202020204" pitchFamily="34" charset="0"/>
        <a:buChar char="•"/>
        <a:defRPr sz="1489" kern="1200">
          <a:solidFill>
            <a:schemeClr val="tx1"/>
          </a:solidFill>
          <a:latin typeface="+mn-lt"/>
          <a:ea typeface="+mn-ea"/>
          <a:cs typeface="+mn-cs"/>
        </a:defRPr>
      </a:lvl9pPr>
    </p:bodyStyle>
    <p:otherStyle>
      <a:defPPr>
        <a:defRPr lang="en-US"/>
      </a:defPPr>
      <a:lvl1pPr marL="0" algn="l" defTabSz="756300" rtl="0" eaLnBrk="1" latinLnBrk="0" hangingPunct="1">
        <a:defRPr sz="1489" kern="1200">
          <a:solidFill>
            <a:schemeClr val="tx1"/>
          </a:solidFill>
          <a:latin typeface="+mn-lt"/>
          <a:ea typeface="+mn-ea"/>
          <a:cs typeface="+mn-cs"/>
        </a:defRPr>
      </a:lvl1pPr>
      <a:lvl2pPr marL="378150" algn="l" defTabSz="756300" rtl="0" eaLnBrk="1" latinLnBrk="0" hangingPunct="1">
        <a:defRPr sz="1489" kern="1200">
          <a:solidFill>
            <a:schemeClr val="tx1"/>
          </a:solidFill>
          <a:latin typeface="+mn-lt"/>
          <a:ea typeface="+mn-ea"/>
          <a:cs typeface="+mn-cs"/>
        </a:defRPr>
      </a:lvl2pPr>
      <a:lvl3pPr marL="756300" algn="l" defTabSz="756300" rtl="0" eaLnBrk="1" latinLnBrk="0" hangingPunct="1">
        <a:defRPr sz="1489" kern="1200">
          <a:solidFill>
            <a:schemeClr val="tx1"/>
          </a:solidFill>
          <a:latin typeface="+mn-lt"/>
          <a:ea typeface="+mn-ea"/>
          <a:cs typeface="+mn-cs"/>
        </a:defRPr>
      </a:lvl3pPr>
      <a:lvl4pPr marL="1134450" algn="l" defTabSz="756300" rtl="0" eaLnBrk="1" latinLnBrk="0" hangingPunct="1">
        <a:defRPr sz="1489" kern="1200">
          <a:solidFill>
            <a:schemeClr val="tx1"/>
          </a:solidFill>
          <a:latin typeface="+mn-lt"/>
          <a:ea typeface="+mn-ea"/>
          <a:cs typeface="+mn-cs"/>
        </a:defRPr>
      </a:lvl4pPr>
      <a:lvl5pPr marL="1512600" algn="l" defTabSz="756300" rtl="0" eaLnBrk="1" latinLnBrk="0" hangingPunct="1">
        <a:defRPr sz="1489" kern="1200">
          <a:solidFill>
            <a:schemeClr val="tx1"/>
          </a:solidFill>
          <a:latin typeface="+mn-lt"/>
          <a:ea typeface="+mn-ea"/>
          <a:cs typeface="+mn-cs"/>
        </a:defRPr>
      </a:lvl5pPr>
      <a:lvl6pPr marL="1890751" algn="l" defTabSz="756300" rtl="0" eaLnBrk="1" latinLnBrk="0" hangingPunct="1">
        <a:defRPr sz="1489" kern="1200">
          <a:solidFill>
            <a:schemeClr val="tx1"/>
          </a:solidFill>
          <a:latin typeface="+mn-lt"/>
          <a:ea typeface="+mn-ea"/>
          <a:cs typeface="+mn-cs"/>
        </a:defRPr>
      </a:lvl6pPr>
      <a:lvl7pPr marL="2268901" algn="l" defTabSz="756300" rtl="0" eaLnBrk="1" latinLnBrk="0" hangingPunct="1">
        <a:defRPr sz="1489" kern="1200">
          <a:solidFill>
            <a:schemeClr val="tx1"/>
          </a:solidFill>
          <a:latin typeface="+mn-lt"/>
          <a:ea typeface="+mn-ea"/>
          <a:cs typeface="+mn-cs"/>
        </a:defRPr>
      </a:lvl7pPr>
      <a:lvl8pPr marL="2647051" algn="l" defTabSz="756300" rtl="0" eaLnBrk="1" latinLnBrk="0" hangingPunct="1">
        <a:defRPr sz="1489" kern="1200">
          <a:solidFill>
            <a:schemeClr val="tx1"/>
          </a:solidFill>
          <a:latin typeface="+mn-lt"/>
          <a:ea typeface="+mn-ea"/>
          <a:cs typeface="+mn-cs"/>
        </a:defRPr>
      </a:lvl8pPr>
      <a:lvl9pPr marL="3025201" algn="l" defTabSz="756300"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diagramColors" Target="../diagrams/colors1.xml"/><Relationship Id="rId26" Type="http://schemas.openxmlformats.org/officeDocument/2006/relationships/image" Target="../media/image20.png"/><Relationship Id="rId3" Type="http://schemas.openxmlformats.org/officeDocument/2006/relationships/image" Target="../media/image2.png"/><Relationship Id="rId21" Type="http://schemas.openxmlformats.org/officeDocument/2006/relationships/image" Target="../media/image15.sv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diagramQuickStyle" Target="../diagrams/quickStyle1.xml"/><Relationship Id="rId25"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diagramLayout" Target="../diagrams/layout1.xml"/><Relationship Id="rId20" Type="http://schemas.openxmlformats.org/officeDocument/2006/relationships/image" Target="../media/image14.png"/><Relationship Id="rId29" Type="http://schemas.openxmlformats.org/officeDocument/2006/relationships/image" Target="../media/image23.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18.png"/><Relationship Id="rId5" Type="http://schemas.openxmlformats.org/officeDocument/2006/relationships/image" Target="../media/image4.png"/><Relationship Id="rId15" Type="http://schemas.openxmlformats.org/officeDocument/2006/relationships/diagramData" Target="../diagrams/data1.xml"/><Relationship Id="rId23" Type="http://schemas.openxmlformats.org/officeDocument/2006/relationships/image" Target="../media/image17.svg"/><Relationship Id="rId28" Type="http://schemas.openxmlformats.org/officeDocument/2006/relationships/image" Target="../media/image22.png"/><Relationship Id="rId10" Type="http://schemas.openxmlformats.org/officeDocument/2006/relationships/image" Target="../media/image9.svg"/><Relationship Id="rId19" Type="http://schemas.microsoft.com/office/2007/relationships/diagramDrawing" Target="../diagrams/drawing1.xml"/><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16.png"/><Relationship Id="rId27"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18" Type="http://schemas.openxmlformats.org/officeDocument/2006/relationships/image" Target="../media/image39.svg"/><Relationship Id="rId26" Type="http://schemas.openxmlformats.org/officeDocument/2006/relationships/image" Target="../media/image47.svg"/><Relationship Id="rId3" Type="http://schemas.openxmlformats.org/officeDocument/2006/relationships/image" Target="../media/image24.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33.svg"/><Relationship Id="rId17" Type="http://schemas.openxmlformats.org/officeDocument/2006/relationships/image" Target="../media/image38.png"/><Relationship Id="rId25" Type="http://schemas.openxmlformats.org/officeDocument/2006/relationships/image" Target="../media/image46.png"/><Relationship Id="rId2" Type="http://schemas.openxmlformats.org/officeDocument/2006/relationships/image" Target="../media/image1.png"/><Relationship Id="rId16" Type="http://schemas.openxmlformats.org/officeDocument/2006/relationships/image" Target="../media/image37.svg"/><Relationship Id="rId20" Type="http://schemas.openxmlformats.org/officeDocument/2006/relationships/image" Target="../media/image41.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32.png"/><Relationship Id="rId24" Type="http://schemas.openxmlformats.org/officeDocument/2006/relationships/image" Target="../media/image45.svg"/><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image" Target="../media/image44.png"/><Relationship Id="rId28" Type="http://schemas.openxmlformats.org/officeDocument/2006/relationships/image" Target="../media/image49.svg"/><Relationship Id="rId10" Type="http://schemas.openxmlformats.org/officeDocument/2006/relationships/image" Target="../media/image31.svg"/><Relationship Id="rId19" Type="http://schemas.openxmlformats.org/officeDocument/2006/relationships/image" Target="../media/image40.pn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 Id="rId22" Type="http://schemas.openxmlformats.org/officeDocument/2006/relationships/image" Target="../media/image43.svg"/><Relationship Id="rId27" Type="http://schemas.openxmlformats.org/officeDocument/2006/relationships/image" Target="../media/image48.png"/><Relationship Id="rId30"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285AF8D-7285-2735-D574-09F284745ACA}"/>
              </a:ext>
            </a:extLst>
          </p:cNvPr>
          <p:cNvSpPr txBox="1">
            <a:spLocks/>
          </p:cNvSpPr>
          <p:nvPr/>
        </p:nvSpPr>
        <p:spPr>
          <a:xfrm>
            <a:off x="544941" y="110101"/>
            <a:ext cx="5874521" cy="717286"/>
          </a:xfrm>
          <a:prstGeom prst="rect">
            <a:avLst/>
          </a:prstGeom>
        </p:spPr>
        <p:txBody>
          <a:bodyPr vert="horz" lIns="91440" tIns="45720" rIns="91440" bIns="45720" rtlCol="0" anchor="b">
            <a:noAutofit/>
          </a:bodyPr>
          <a:lstStyle>
            <a:lvl1pPr algn="ctr" defTabSz="756300" rtl="0" eaLnBrk="1" latinLnBrk="0" hangingPunct="1">
              <a:lnSpc>
                <a:spcPct val="90000"/>
              </a:lnSpc>
              <a:spcBef>
                <a:spcPct val="0"/>
              </a:spcBef>
              <a:buNone/>
              <a:defRPr sz="4963" kern="1200">
                <a:solidFill>
                  <a:schemeClr val="tx1"/>
                </a:solidFill>
                <a:latin typeface="+mj-lt"/>
                <a:ea typeface="+mj-ea"/>
                <a:cs typeface="+mj-cs"/>
              </a:defRPr>
            </a:lvl1pPr>
          </a:lstStyle>
          <a:p>
            <a:pPr algn="l"/>
            <a:r>
              <a:rPr lang="en-US" sz="2400" b="1" dirty="0">
                <a:latin typeface="Times New Roman" panose="02020603050405020304" pitchFamily="18" charset="0"/>
                <a:cs typeface="Times New Roman" panose="02020603050405020304" pitchFamily="18" charset="0"/>
              </a:rPr>
              <a:t>Subsector &amp; Company Primer</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7AB9EF92-AB16-07ED-0425-EAC55357D4DA}"/>
              </a:ext>
            </a:extLst>
          </p:cNvPr>
          <p:cNvCxnSpPr>
            <a:cxnSpLocks/>
          </p:cNvCxnSpPr>
          <p:nvPr/>
        </p:nvCxnSpPr>
        <p:spPr>
          <a:xfrm>
            <a:off x="266311" y="937488"/>
            <a:ext cx="729653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1D0AFC47-DEB4-9882-7A4E-9108511E0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092" y="79656"/>
            <a:ext cx="570995" cy="74773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20AF7D3-39CE-316B-6FD7-6CA9D940FB8F}"/>
              </a:ext>
            </a:extLst>
          </p:cNvPr>
          <p:cNvSpPr txBox="1"/>
          <p:nvPr/>
        </p:nvSpPr>
        <p:spPr>
          <a:xfrm>
            <a:off x="552508" y="527313"/>
            <a:ext cx="2930610"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Healthcare Sector | 2/06/2026</a:t>
            </a:r>
          </a:p>
        </p:txBody>
      </p:sp>
      <p:sp>
        <p:nvSpPr>
          <p:cNvPr id="10" name="Rectangle 9">
            <a:extLst>
              <a:ext uri="{FF2B5EF4-FFF2-40B4-BE49-F238E27FC236}">
                <a16:creationId xmlns:a16="http://schemas.microsoft.com/office/drawing/2014/main" id="{71A25A86-AD37-AE06-B77E-65C8FDA098D3}"/>
              </a:ext>
            </a:extLst>
          </p:cNvPr>
          <p:cNvSpPr/>
          <p:nvPr/>
        </p:nvSpPr>
        <p:spPr>
          <a:xfrm>
            <a:off x="-12320" y="-53339"/>
            <a:ext cx="302942" cy="1084325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C13C084-4563-BDFD-EC40-06B5F86D2C23}"/>
              </a:ext>
            </a:extLst>
          </p:cNvPr>
          <p:cNvSpPr txBox="1"/>
          <p:nvPr/>
        </p:nvSpPr>
        <p:spPr>
          <a:xfrm>
            <a:off x="266310" y="10460338"/>
            <a:ext cx="1829347"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Keller Bice</a:t>
            </a:r>
          </a:p>
        </p:txBody>
      </p:sp>
      <p:cxnSp>
        <p:nvCxnSpPr>
          <p:cNvPr id="12" name="Straight Connector 11">
            <a:extLst>
              <a:ext uri="{FF2B5EF4-FFF2-40B4-BE49-F238E27FC236}">
                <a16:creationId xmlns:a16="http://schemas.microsoft.com/office/drawing/2014/main" id="{16F1342A-E012-F6A4-83AE-1BF6D1EC85EC}"/>
              </a:ext>
            </a:extLst>
          </p:cNvPr>
          <p:cNvCxnSpPr/>
          <p:nvPr/>
        </p:nvCxnSpPr>
        <p:spPr>
          <a:xfrm>
            <a:off x="290623" y="10473224"/>
            <a:ext cx="729653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41F31AA-0431-30D4-F50B-CB3423F26F82}"/>
              </a:ext>
            </a:extLst>
          </p:cNvPr>
          <p:cNvSpPr txBox="1"/>
          <p:nvPr/>
        </p:nvSpPr>
        <p:spPr>
          <a:xfrm>
            <a:off x="537998" y="1561971"/>
            <a:ext cx="3369639" cy="3971472"/>
          </a:xfrm>
          <a:prstGeom prst="rect">
            <a:avLst/>
          </a:prstGeom>
          <a:noFill/>
        </p:spPr>
        <p:txBody>
          <a:bodyPr wrap="square">
            <a:spAutoFit/>
          </a:bodyPr>
          <a:lstStyle/>
          <a:p>
            <a:pPr algn="just">
              <a:lnSpc>
                <a:spcPct val="115000"/>
              </a:lnSpc>
              <a:spcAft>
                <a:spcPts val="800"/>
              </a:spcAft>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function of this subsector is relatively straightforward. Companies in the hospital services sector provide both inpatient and outpatient care while employing physicians, nurses, and support staff to operate their facilities. These companies own the hospitals themselves, as well as the medical equipment used in operations and patient care. Hospitals generate revenue by charging for procedures such as surgeries, inpatient stays, and diagnostic services like X-rays and imaging scans. Patients are generally categorized as either inpatients or outpatients. Inpatients are patients who stay overnight in the hospital, undergo surgery, or receive intensive treatment. While outpatients receive care that does not require an overnight stay, such as same-day procedures, imaging and diagnostic services, or scheduled elective treatments. The payments that hospitals receive for their services are primarily from commercial insurers, Medicare, and Medicaid, and a smaller portion comes directly from patients through ‘self-pay’. Financial performance in this subsector is driven by patient volume, the complexity of care provided, and payer mix. Typically, the more complex procedures are the higher reimbursement, while higher patient volumes help hospitals spread fixed costs more efficiently. </a:t>
            </a:r>
          </a:p>
        </p:txBody>
      </p:sp>
      <p:sp>
        <p:nvSpPr>
          <p:cNvPr id="18" name="TextBox 17">
            <a:extLst>
              <a:ext uri="{FF2B5EF4-FFF2-40B4-BE49-F238E27FC236}">
                <a16:creationId xmlns:a16="http://schemas.microsoft.com/office/drawing/2014/main" id="{79F1BE64-1D5F-C20D-773D-8B0B7D1D95A6}"/>
              </a:ext>
            </a:extLst>
          </p:cNvPr>
          <p:cNvSpPr txBox="1"/>
          <p:nvPr/>
        </p:nvSpPr>
        <p:spPr>
          <a:xfrm>
            <a:off x="3907637" y="1562109"/>
            <a:ext cx="3508872" cy="1493870"/>
          </a:xfrm>
          <a:prstGeom prst="rect">
            <a:avLst/>
          </a:prstGeom>
          <a:noFill/>
        </p:spPr>
        <p:txBody>
          <a:bodyPr wrap="square">
            <a:spAutoFit/>
          </a:bodyPr>
          <a:lstStyle/>
          <a:p>
            <a:pPr algn="just">
              <a:lnSpc>
                <a:spcPct val="115000"/>
              </a:lnSpc>
              <a:spcAft>
                <a:spcPts val="800"/>
              </a:spcAft>
            </a:pPr>
            <a:r>
              <a:rPr lang="en-US" sz="1000" kern="1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Payer mix is especially important, as commercial insurers generally reimburse hospitals at higher rates than government programs. When a patient is commercially insured, the payment comes from private insurance providers or employer-sponsored health plans. When a patient is covered by the government, reimbursement comes through Medicare, funded by the federal government, or Medicaid, which is jointly funded by the state and federal governments and serves lower-income populations.</a:t>
            </a:r>
          </a:p>
        </p:txBody>
      </p:sp>
      <p:sp>
        <p:nvSpPr>
          <p:cNvPr id="21" name="TextBox 20">
            <a:extLst>
              <a:ext uri="{FF2B5EF4-FFF2-40B4-BE49-F238E27FC236}">
                <a16:creationId xmlns:a16="http://schemas.microsoft.com/office/drawing/2014/main" id="{82E34A27-2F2F-AFE4-80CF-065FB1DF15CC}"/>
              </a:ext>
            </a:extLst>
          </p:cNvPr>
          <p:cNvSpPr txBox="1"/>
          <p:nvPr/>
        </p:nvSpPr>
        <p:spPr>
          <a:xfrm>
            <a:off x="544941" y="1100306"/>
            <a:ext cx="3362696" cy="461665"/>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Subsector Overview</a:t>
            </a:r>
          </a:p>
        </p:txBody>
      </p:sp>
      <p:cxnSp>
        <p:nvCxnSpPr>
          <p:cNvPr id="22" name="Straight Connector 21">
            <a:extLst>
              <a:ext uri="{FF2B5EF4-FFF2-40B4-BE49-F238E27FC236}">
                <a16:creationId xmlns:a16="http://schemas.microsoft.com/office/drawing/2014/main" id="{D4F4C991-5EB1-B4F5-6C9F-5286A4BDB61B}"/>
              </a:ext>
            </a:extLst>
          </p:cNvPr>
          <p:cNvCxnSpPr>
            <a:cxnSpLocks/>
          </p:cNvCxnSpPr>
          <p:nvPr/>
        </p:nvCxnSpPr>
        <p:spPr>
          <a:xfrm>
            <a:off x="617231" y="5666714"/>
            <a:ext cx="671657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3C2D9FB-2F97-3AA0-E56F-B0CE50B32BB9}"/>
              </a:ext>
            </a:extLst>
          </p:cNvPr>
          <p:cNvSpPr txBox="1"/>
          <p:nvPr/>
        </p:nvSpPr>
        <p:spPr>
          <a:xfrm>
            <a:off x="3975522" y="6506244"/>
            <a:ext cx="3451194" cy="3921458"/>
          </a:xfrm>
          <a:prstGeom prst="rect">
            <a:avLst/>
          </a:prstGeom>
          <a:noFill/>
        </p:spPr>
        <p:txBody>
          <a:bodyPr wrap="square">
            <a:spAutoFit/>
          </a:bodyPr>
          <a:lstStyle/>
          <a:p>
            <a:pPr algn="just">
              <a:lnSpc>
                <a:spcPts val="1500"/>
              </a:lnSpc>
              <a:spcAft>
                <a:spcPts val="800"/>
              </a:spcAft>
            </a:pPr>
            <a:r>
              <a:rPr lang="en-US" sz="1000" kern="100" dirty="0">
                <a:solidFill>
                  <a:srgbClr val="000000"/>
                </a:solidFill>
                <a:latin typeface="Times New Roman" panose="02020603050405020304" pitchFamily="18" charset="0"/>
                <a:cs typeface="Times New Roman" panose="02020603050405020304" pitchFamily="18" charset="0"/>
              </a:rPr>
              <a:t>HCA Healthcare (HCA) fits into the Healthcare Services subsector as a scaled hospital operator, applying the standard hospital business model across a large network of facilities. The company owns and operates its hospitals, provides care to both inpatient and outpatient populations, employs physicians, nurses, and support staff, and invests heavily in medical equipment and infrastructure. These activities represent the core functions of the hospital services subsector. At a high level, HCA generates revenue in the same way as hospitals across the subsector. Patients receive care, and payment is made on their behalf by commercial insurers or government programs such as Medicare and Medicaid. This reimbursement flows to HCA, which then uses the revenue to pay labor, purchase supplies, and cover operating expenses. HCA captures value within this model by optimizing its margins rather than changing the underlying structure. The company increases efficiency by keeping its hospitals busy, focusing on higher-paying procedures, and using its size to control costs. Together, these factors allow HCA to generate margins that are stronger than those of many smaller or nonprofit hospital operators.</a:t>
            </a:r>
          </a:p>
        </p:txBody>
      </p:sp>
      <p:sp>
        <p:nvSpPr>
          <p:cNvPr id="28" name="TextBox 27">
            <a:extLst>
              <a:ext uri="{FF2B5EF4-FFF2-40B4-BE49-F238E27FC236}">
                <a16:creationId xmlns:a16="http://schemas.microsoft.com/office/drawing/2014/main" id="{48F46861-F7C8-ADF3-7176-BBBB55CDF1F9}"/>
              </a:ext>
            </a:extLst>
          </p:cNvPr>
          <p:cNvSpPr txBox="1"/>
          <p:nvPr/>
        </p:nvSpPr>
        <p:spPr>
          <a:xfrm>
            <a:off x="537998" y="5716177"/>
            <a:ext cx="6761233" cy="83099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HCA Healthcare: Company Overview and Subsector Alignment</a:t>
            </a:r>
          </a:p>
        </p:txBody>
      </p:sp>
      <p:grpSp>
        <p:nvGrpSpPr>
          <p:cNvPr id="3" name="Group 2">
            <a:extLst>
              <a:ext uri="{FF2B5EF4-FFF2-40B4-BE49-F238E27FC236}">
                <a16:creationId xmlns:a16="http://schemas.microsoft.com/office/drawing/2014/main" id="{088C0AD4-6C63-7E00-07F3-A2D08AAB17E2}"/>
              </a:ext>
            </a:extLst>
          </p:cNvPr>
          <p:cNvGrpSpPr/>
          <p:nvPr/>
        </p:nvGrpSpPr>
        <p:grpSpPr>
          <a:xfrm>
            <a:off x="3929123" y="2993228"/>
            <a:ext cx="3497593" cy="2585493"/>
            <a:chOff x="1794886" y="2143292"/>
            <a:chExt cx="4535988" cy="3097586"/>
          </a:xfrm>
        </p:grpSpPr>
        <p:grpSp>
          <p:nvGrpSpPr>
            <p:cNvPr id="4" name="Group 3">
              <a:extLst>
                <a:ext uri="{FF2B5EF4-FFF2-40B4-BE49-F238E27FC236}">
                  <a16:creationId xmlns:a16="http://schemas.microsoft.com/office/drawing/2014/main" id="{32F63BE3-6472-45BB-0DEC-8FE29306EEF0}"/>
                </a:ext>
              </a:extLst>
            </p:cNvPr>
            <p:cNvGrpSpPr/>
            <p:nvPr/>
          </p:nvGrpSpPr>
          <p:grpSpPr>
            <a:xfrm>
              <a:off x="1794886" y="2143292"/>
              <a:ext cx="4535988" cy="3097586"/>
              <a:chOff x="1794886" y="2143292"/>
              <a:chExt cx="4535988" cy="3097586"/>
            </a:xfrm>
          </p:grpSpPr>
          <p:pic>
            <p:nvPicPr>
              <p:cNvPr id="13" name="Graphic 12" descr="Inpatient with solid fill">
                <a:extLst>
                  <a:ext uri="{FF2B5EF4-FFF2-40B4-BE49-F238E27FC236}">
                    <a16:creationId xmlns:a16="http://schemas.microsoft.com/office/drawing/2014/main" id="{3EB42145-0FF4-84DB-510D-874113E5B1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11037" y="2289283"/>
                <a:ext cx="914400" cy="914400"/>
              </a:xfrm>
              <a:prstGeom prst="rect">
                <a:avLst/>
              </a:prstGeom>
            </p:spPr>
          </p:pic>
          <p:pic>
            <p:nvPicPr>
              <p:cNvPr id="15" name="Graphic 14" descr="Hospital with solid fill">
                <a:extLst>
                  <a:ext uri="{FF2B5EF4-FFF2-40B4-BE49-F238E27FC236}">
                    <a16:creationId xmlns:a16="http://schemas.microsoft.com/office/drawing/2014/main" id="{96AFE649-4E59-62ED-6796-E819DCD9C1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4886" y="3247980"/>
                <a:ext cx="914400" cy="793657"/>
              </a:xfrm>
              <a:prstGeom prst="rect">
                <a:avLst/>
              </a:prstGeom>
            </p:spPr>
          </p:pic>
          <p:pic>
            <p:nvPicPr>
              <p:cNvPr id="16" name="Graphic 15" descr="Weight Loss with solid fill">
                <a:extLst>
                  <a:ext uri="{FF2B5EF4-FFF2-40B4-BE49-F238E27FC236}">
                    <a16:creationId xmlns:a16="http://schemas.microsoft.com/office/drawing/2014/main" id="{ABDBBC96-BAD6-ACA9-F22A-BBDD6B977F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5215" y="4000154"/>
                <a:ext cx="914400" cy="820507"/>
              </a:xfrm>
              <a:prstGeom prst="rect">
                <a:avLst/>
              </a:prstGeom>
            </p:spPr>
          </p:pic>
          <p:sp>
            <p:nvSpPr>
              <p:cNvPr id="17" name="Bent Arrow 16">
                <a:extLst>
                  <a:ext uri="{FF2B5EF4-FFF2-40B4-BE49-F238E27FC236}">
                    <a16:creationId xmlns:a16="http://schemas.microsoft.com/office/drawing/2014/main" id="{1EBDDCE3-EEDC-C04D-C8A2-B4709DC9204E}"/>
                  </a:ext>
                </a:extLst>
              </p:cNvPr>
              <p:cNvSpPr/>
              <p:nvPr/>
            </p:nvSpPr>
            <p:spPr>
              <a:xfrm>
                <a:off x="2202473" y="2746483"/>
                <a:ext cx="957891" cy="457200"/>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Bent Arrow 18">
                <a:extLst>
                  <a:ext uri="{FF2B5EF4-FFF2-40B4-BE49-F238E27FC236}">
                    <a16:creationId xmlns:a16="http://schemas.microsoft.com/office/drawing/2014/main" id="{2F058552-0B20-8B5E-0366-FBB05AA46749}"/>
                  </a:ext>
                </a:extLst>
              </p:cNvPr>
              <p:cNvSpPr/>
              <p:nvPr/>
            </p:nvSpPr>
            <p:spPr>
              <a:xfrm flipV="1">
                <a:off x="2202474" y="4118083"/>
                <a:ext cx="1166109" cy="457198"/>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Box 19">
                <a:extLst>
                  <a:ext uri="{FF2B5EF4-FFF2-40B4-BE49-F238E27FC236}">
                    <a16:creationId xmlns:a16="http://schemas.microsoft.com/office/drawing/2014/main" id="{A5DC71A4-AA63-8BE0-0C84-B81AEC5933D0}"/>
                  </a:ext>
                </a:extLst>
              </p:cNvPr>
              <p:cNvSpPr txBox="1"/>
              <p:nvPr/>
            </p:nvSpPr>
            <p:spPr>
              <a:xfrm>
                <a:off x="3230689" y="4693778"/>
                <a:ext cx="1119028" cy="294988"/>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Outpatient</a:t>
                </a:r>
              </a:p>
            </p:txBody>
          </p:sp>
          <p:sp>
            <p:nvSpPr>
              <p:cNvPr id="23" name="TextBox 22">
                <a:extLst>
                  <a:ext uri="{FF2B5EF4-FFF2-40B4-BE49-F238E27FC236}">
                    <a16:creationId xmlns:a16="http://schemas.microsoft.com/office/drawing/2014/main" id="{8C43EA4A-0A7D-B1B5-36E1-DA854384516D}"/>
                  </a:ext>
                </a:extLst>
              </p:cNvPr>
              <p:cNvSpPr txBox="1"/>
              <p:nvPr/>
            </p:nvSpPr>
            <p:spPr>
              <a:xfrm>
                <a:off x="3061892" y="2975083"/>
                <a:ext cx="1119028" cy="294988"/>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Inpatient</a:t>
                </a:r>
              </a:p>
            </p:txBody>
          </p:sp>
          <p:pic>
            <p:nvPicPr>
              <p:cNvPr id="24" name="Graphic 23" descr="Court with solid fill">
                <a:extLst>
                  <a:ext uri="{FF2B5EF4-FFF2-40B4-BE49-F238E27FC236}">
                    <a16:creationId xmlns:a16="http://schemas.microsoft.com/office/drawing/2014/main" id="{435274CB-C618-11B9-2ACB-D105FC656A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14160" y="4197150"/>
                <a:ext cx="914400" cy="914400"/>
              </a:xfrm>
              <a:prstGeom prst="rect">
                <a:avLst/>
              </a:prstGeom>
            </p:spPr>
          </p:pic>
          <p:pic>
            <p:nvPicPr>
              <p:cNvPr id="26" name="Graphic 25" descr="Address Book with solid fill">
                <a:extLst>
                  <a:ext uri="{FF2B5EF4-FFF2-40B4-BE49-F238E27FC236}">
                    <a16:creationId xmlns:a16="http://schemas.microsoft.com/office/drawing/2014/main" id="{3EE826E1-CE91-84AD-D6D2-F331F84C8B8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14160" y="3158632"/>
                <a:ext cx="914400" cy="914400"/>
              </a:xfrm>
              <a:prstGeom prst="rect">
                <a:avLst/>
              </a:prstGeom>
            </p:spPr>
          </p:pic>
          <p:pic>
            <p:nvPicPr>
              <p:cNvPr id="30" name="Graphic 29" descr="User with solid fill">
                <a:extLst>
                  <a:ext uri="{FF2B5EF4-FFF2-40B4-BE49-F238E27FC236}">
                    <a16:creationId xmlns:a16="http://schemas.microsoft.com/office/drawing/2014/main" id="{8C5EA2DD-893D-65C5-10E7-1918E9677FF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22910" y="2143292"/>
                <a:ext cx="842630" cy="842629"/>
              </a:xfrm>
              <a:prstGeom prst="rect">
                <a:avLst/>
              </a:prstGeom>
            </p:spPr>
          </p:pic>
          <p:grpSp>
            <p:nvGrpSpPr>
              <p:cNvPr id="31" name="Group 30">
                <a:extLst>
                  <a:ext uri="{FF2B5EF4-FFF2-40B4-BE49-F238E27FC236}">
                    <a16:creationId xmlns:a16="http://schemas.microsoft.com/office/drawing/2014/main" id="{F28D520D-601C-7BCA-8C07-20D194982D2F}"/>
                  </a:ext>
                </a:extLst>
              </p:cNvPr>
              <p:cNvGrpSpPr/>
              <p:nvPr/>
            </p:nvGrpSpPr>
            <p:grpSpPr>
              <a:xfrm>
                <a:off x="4012253" y="3203683"/>
                <a:ext cx="957892" cy="824299"/>
                <a:chOff x="4012253" y="3203683"/>
                <a:chExt cx="957892" cy="824299"/>
              </a:xfrm>
            </p:grpSpPr>
            <p:grpSp>
              <p:nvGrpSpPr>
                <p:cNvPr id="37" name="Group 36">
                  <a:extLst>
                    <a:ext uri="{FF2B5EF4-FFF2-40B4-BE49-F238E27FC236}">
                      <a16:creationId xmlns:a16="http://schemas.microsoft.com/office/drawing/2014/main" id="{4D7E85E5-3F22-6812-9E4F-B743A8A77337}"/>
                    </a:ext>
                  </a:extLst>
                </p:cNvPr>
                <p:cNvGrpSpPr/>
                <p:nvPr/>
              </p:nvGrpSpPr>
              <p:grpSpPr>
                <a:xfrm>
                  <a:off x="4012253" y="3203683"/>
                  <a:ext cx="957892" cy="824299"/>
                  <a:chOff x="3582850" y="3350707"/>
                  <a:chExt cx="957892" cy="677275"/>
                </a:xfrm>
              </p:grpSpPr>
              <p:sp>
                <p:nvSpPr>
                  <p:cNvPr id="39" name="Bent Arrow 38">
                    <a:extLst>
                      <a:ext uri="{FF2B5EF4-FFF2-40B4-BE49-F238E27FC236}">
                        <a16:creationId xmlns:a16="http://schemas.microsoft.com/office/drawing/2014/main" id="{A69DD7DE-4456-0AF5-3C91-B2ABAB7AD647}"/>
                      </a:ext>
                    </a:extLst>
                  </p:cNvPr>
                  <p:cNvSpPr/>
                  <p:nvPr/>
                </p:nvSpPr>
                <p:spPr>
                  <a:xfrm>
                    <a:off x="3582851" y="3570782"/>
                    <a:ext cx="957891" cy="457200"/>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Bent Arrow 39">
                    <a:extLst>
                      <a:ext uri="{FF2B5EF4-FFF2-40B4-BE49-F238E27FC236}">
                        <a16:creationId xmlns:a16="http://schemas.microsoft.com/office/drawing/2014/main" id="{2485E9C1-0F68-E763-C0FF-FE694BA9EAB4}"/>
                      </a:ext>
                    </a:extLst>
                  </p:cNvPr>
                  <p:cNvSpPr/>
                  <p:nvPr/>
                </p:nvSpPr>
                <p:spPr>
                  <a:xfrm flipV="1">
                    <a:off x="3582850" y="3350707"/>
                    <a:ext cx="957891" cy="457200"/>
                  </a:xfrm>
                  <a:prstGeom prst="ben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8" name="Rectangle 37">
                  <a:extLst>
                    <a:ext uri="{FF2B5EF4-FFF2-40B4-BE49-F238E27FC236}">
                      <a16:creationId xmlns:a16="http://schemas.microsoft.com/office/drawing/2014/main" id="{2EC5BA50-5502-E071-E16D-96765A945D38}"/>
                    </a:ext>
                  </a:extLst>
                </p:cNvPr>
                <p:cNvSpPr/>
                <p:nvPr/>
              </p:nvSpPr>
              <p:spPr>
                <a:xfrm>
                  <a:off x="4805916" y="3471532"/>
                  <a:ext cx="164228" cy="2886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Bent Arrow 31">
                <a:extLst>
                  <a:ext uri="{FF2B5EF4-FFF2-40B4-BE49-F238E27FC236}">
                    <a16:creationId xmlns:a16="http://schemas.microsoft.com/office/drawing/2014/main" id="{E198D199-4794-1F94-FA9A-D979ECFBC380}"/>
                  </a:ext>
                </a:extLst>
              </p:cNvPr>
              <p:cNvSpPr/>
              <p:nvPr/>
            </p:nvSpPr>
            <p:spPr>
              <a:xfrm>
                <a:off x="4687180" y="2564607"/>
                <a:ext cx="682462" cy="1128619"/>
              </a:xfrm>
              <a:prstGeom prst="bentArrow">
                <a:avLst>
                  <a:gd name="adj1" fmla="val 17797"/>
                  <a:gd name="adj2" fmla="val 19345"/>
                  <a:gd name="adj3" fmla="val 23260"/>
                  <a:gd name="adj4" fmla="val 4375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Bent Arrow 32">
                <a:extLst>
                  <a:ext uri="{FF2B5EF4-FFF2-40B4-BE49-F238E27FC236}">
                    <a16:creationId xmlns:a16="http://schemas.microsoft.com/office/drawing/2014/main" id="{36CE9ACD-7674-3C48-8EE2-10C7F3992433}"/>
                  </a:ext>
                </a:extLst>
              </p:cNvPr>
              <p:cNvSpPr/>
              <p:nvPr/>
            </p:nvSpPr>
            <p:spPr>
              <a:xfrm flipV="1">
                <a:off x="4687180" y="3692271"/>
                <a:ext cx="682462" cy="1128619"/>
              </a:xfrm>
              <a:prstGeom prst="bentArrow">
                <a:avLst>
                  <a:gd name="adj1" fmla="val 17797"/>
                  <a:gd name="adj2" fmla="val 19345"/>
                  <a:gd name="adj3" fmla="val 23260"/>
                  <a:gd name="adj4" fmla="val 4375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TextBox 33">
                <a:extLst>
                  <a:ext uri="{FF2B5EF4-FFF2-40B4-BE49-F238E27FC236}">
                    <a16:creationId xmlns:a16="http://schemas.microsoft.com/office/drawing/2014/main" id="{17BE6C7A-5825-8B02-2CF0-6D7DB95BAA84}"/>
                  </a:ext>
                </a:extLst>
              </p:cNvPr>
              <p:cNvSpPr txBox="1"/>
              <p:nvPr/>
            </p:nvSpPr>
            <p:spPr>
              <a:xfrm>
                <a:off x="5184711" y="2833928"/>
                <a:ext cx="1119028" cy="294989"/>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Self-pay</a:t>
                </a:r>
              </a:p>
            </p:txBody>
          </p:sp>
          <p:sp>
            <p:nvSpPr>
              <p:cNvPr id="35" name="TextBox 34">
                <a:extLst>
                  <a:ext uri="{FF2B5EF4-FFF2-40B4-BE49-F238E27FC236}">
                    <a16:creationId xmlns:a16="http://schemas.microsoft.com/office/drawing/2014/main" id="{2326EF6A-EEEB-2D82-23DA-AD630327B283}"/>
                  </a:ext>
                </a:extLst>
              </p:cNvPr>
              <p:cNvSpPr txBox="1"/>
              <p:nvPr/>
            </p:nvSpPr>
            <p:spPr>
              <a:xfrm>
                <a:off x="5211846" y="3920474"/>
                <a:ext cx="1119028" cy="294988"/>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Commercial</a:t>
                </a:r>
              </a:p>
            </p:txBody>
          </p:sp>
          <p:sp>
            <p:nvSpPr>
              <p:cNvPr id="36" name="TextBox 35">
                <a:extLst>
                  <a:ext uri="{FF2B5EF4-FFF2-40B4-BE49-F238E27FC236}">
                    <a16:creationId xmlns:a16="http://schemas.microsoft.com/office/drawing/2014/main" id="{E1E4FE6A-431E-951F-2BB5-D8C2A0ADFF10}"/>
                  </a:ext>
                </a:extLst>
              </p:cNvPr>
              <p:cNvSpPr txBox="1"/>
              <p:nvPr/>
            </p:nvSpPr>
            <p:spPr>
              <a:xfrm>
                <a:off x="5211846" y="4945890"/>
                <a:ext cx="1119028" cy="294988"/>
              </a:xfrm>
              <a:prstGeom prst="rect">
                <a:avLst/>
              </a:prstGeom>
              <a:noFill/>
            </p:spPr>
            <p:txBody>
              <a:bodyPr wrap="square" rtlCol="0">
                <a:spAutoFit/>
              </a:bodyPr>
              <a:lstStyle/>
              <a:p>
                <a:pPr algn="ctr"/>
                <a:r>
                  <a:rPr lang="en-US" sz="1000" dirty="0">
                    <a:latin typeface="Times New Roman" panose="02020603050405020304" pitchFamily="18" charset="0"/>
                    <a:cs typeface="Times New Roman" panose="02020603050405020304" pitchFamily="18" charset="0"/>
                  </a:rPr>
                  <a:t>Government</a:t>
                </a:r>
              </a:p>
            </p:txBody>
          </p:sp>
        </p:grpSp>
        <p:sp>
          <p:nvSpPr>
            <p:cNvPr id="5" name="Right Arrow 4">
              <a:extLst>
                <a:ext uri="{FF2B5EF4-FFF2-40B4-BE49-F238E27FC236}">
                  <a16:creationId xmlns:a16="http://schemas.microsoft.com/office/drawing/2014/main" id="{3371997F-079B-0658-1AAE-D0013F1AEAC8}"/>
                </a:ext>
              </a:extLst>
            </p:cNvPr>
            <p:cNvSpPr/>
            <p:nvPr/>
          </p:nvSpPr>
          <p:spPr>
            <a:xfrm>
              <a:off x="4516982" y="3482229"/>
              <a:ext cx="852660" cy="263008"/>
            </a:xfrm>
            <a:prstGeom prst="rightArrow">
              <a:avLst>
                <a:gd name="adj1" fmla="val 51145"/>
                <a:gd name="adj2" fmla="val 65038"/>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1CD6C516-288E-B0A5-9A73-73DF0F9B1275}"/>
              </a:ext>
            </a:extLst>
          </p:cNvPr>
          <p:cNvGrpSpPr/>
          <p:nvPr/>
        </p:nvGrpSpPr>
        <p:grpSpPr>
          <a:xfrm>
            <a:off x="-298133" y="6655674"/>
            <a:ext cx="5041900" cy="3361267"/>
            <a:chOff x="1085111" y="5801519"/>
            <a:chExt cx="5041900" cy="3361267"/>
          </a:xfrm>
        </p:grpSpPr>
        <p:grpSp>
          <p:nvGrpSpPr>
            <p:cNvPr id="42" name="Group 41">
              <a:extLst>
                <a:ext uri="{FF2B5EF4-FFF2-40B4-BE49-F238E27FC236}">
                  <a16:creationId xmlns:a16="http://schemas.microsoft.com/office/drawing/2014/main" id="{1D24B8C2-3FBC-F2E0-D1BF-02078A273F3B}"/>
                </a:ext>
              </a:extLst>
            </p:cNvPr>
            <p:cNvGrpSpPr/>
            <p:nvPr/>
          </p:nvGrpSpPr>
          <p:grpSpPr>
            <a:xfrm>
              <a:off x="1085111" y="5801519"/>
              <a:ext cx="5041900" cy="3361267"/>
              <a:chOff x="1260475" y="3663685"/>
              <a:chExt cx="5041900" cy="3361267"/>
            </a:xfrm>
          </p:grpSpPr>
          <p:graphicFrame>
            <p:nvGraphicFramePr>
              <p:cNvPr id="49" name="Diagram 48">
                <a:extLst>
                  <a:ext uri="{FF2B5EF4-FFF2-40B4-BE49-F238E27FC236}">
                    <a16:creationId xmlns:a16="http://schemas.microsoft.com/office/drawing/2014/main" id="{4FBFC21D-B670-5A0E-A5EF-3E6BE4F0BBAA}"/>
                  </a:ext>
                </a:extLst>
              </p:cNvPr>
              <p:cNvGraphicFramePr/>
              <p:nvPr>
                <p:extLst>
                  <p:ext uri="{D42A27DB-BD31-4B8C-83A1-F6EECF244321}">
                    <p14:modId xmlns:p14="http://schemas.microsoft.com/office/powerpoint/2010/main" val="2000469031"/>
                  </p:ext>
                </p:extLst>
              </p:nvPr>
            </p:nvGraphicFramePr>
            <p:xfrm>
              <a:off x="1260475" y="3663685"/>
              <a:ext cx="5041900" cy="3361267"/>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50" name="Graphic 49" descr="Gold bars with solid fill">
                <a:extLst>
                  <a:ext uri="{FF2B5EF4-FFF2-40B4-BE49-F238E27FC236}">
                    <a16:creationId xmlns:a16="http://schemas.microsoft.com/office/drawing/2014/main" id="{F5BA5FAF-257E-1BA4-1422-B337D1BEB17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rot="780000">
                <a:off x="4464094" y="5814045"/>
                <a:ext cx="914400" cy="914400"/>
              </a:xfrm>
              <a:prstGeom prst="rect">
                <a:avLst/>
              </a:prstGeom>
            </p:spPr>
          </p:pic>
        </p:grpSp>
        <p:grpSp>
          <p:nvGrpSpPr>
            <p:cNvPr id="43" name="Group 42">
              <a:extLst>
                <a:ext uri="{FF2B5EF4-FFF2-40B4-BE49-F238E27FC236}">
                  <a16:creationId xmlns:a16="http://schemas.microsoft.com/office/drawing/2014/main" id="{0DED70DD-7FA0-BA08-5748-007437EECB28}"/>
                </a:ext>
              </a:extLst>
            </p:cNvPr>
            <p:cNvGrpSpPr/>
            <p:nvPr/>
          </p:nvGrpSpPr>
          <p:grpSpPr>
            <a:xfrm>
              <a:off x="2184156" y="7256993"/>
              <a:ext cx="1557587" cy="1060954"/>
              <a:chOff x="2184156" y="7256993"/>
              <a:chExt cx="1557587" cy="1060954"/>
            </a:xfrm>
          </p:grpSpPr>
          <p:pic>
            <p:nvPicPr>
              <p:cNvPr id="44" name="Graphic 43" descr="Stethoscope with solid fill">
                <a:extLst>
                  <a:ext uri="{FF2B5EF4-FFF2-40B4-BE49-F238E27FC236}">
                    <a16:creationId xmlns:a16="http://schemas.microsoft.com/office/drawing/2014/main" id="{4F91B525-9407-A67B-D5AA-8E5A8FF0C49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rot="2665045">
                <a:off x="3069982" y="7256993"/>
                <a:ext cx="671761" cy="671761"/>
              </a:xfrm>
              <a:prstGeom prst="rect">
                <a:avLst/>
              </a:prstGeom>
            </p:spPr>
          </p:pic>
          <p:pic>
            <p:nvPicPr>
              <p:cNvPr id="45" name="Graphic 44" descr="Needle with solid fill">
                <a:extLst>
                  <a:ext uri="{FF2B5EF4-FFF2-40B4-BE49-F238E27FC236}">
                    <a16:creationId xmlns:a16="http://schemas.microsoft.com/office/drawing/2014/main" id="{56217543-8D47-5FED-F6F3-44CE31C1BEC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rot="780000">
                <a:off x="3071975" y="7811926"/>
                <a:ext cx="500212" cy="500212"/>
              </a:xfrm>
              <a:prstGeom prst="rect">
                <a:avLst/>
              </a:prstGeom>
            </p:spPr>
          </p:pic>
          <p:grpSp>
            <p:nvGrpSpPr>
              <p:cNvPr id="46" name="Group 45">
                <a:extLst>
                  <a:ext uri="{FF2B5EF4-FFF2-40B4-BE49-F238E27FC236}">
                    <a16:creationId xmlns:a16="http://schemas.microsoft.com/office/drawing/2014/main" id="{BFF078E7-E271-B1F9-2DF4-B1336AED43A6}"/>
                  </a:ext>
                </a:extLst>
              </p:cNvPr>
              <p:cNvGrpSpPr/>
              <p:nvPr/>
            </p:nvGrpSpPr>
            <p:grpSpPr>
              <a:xfrm rot="780000">
                <a:off x="2184156" y="7403547"/>
                <a:ext cx="914400" cy="914400"/>
                <a:chOff x="1533004" y="3571886"/>
                <a:chExt cx="914400" cy="914400"/>
              </a:xfrm>
              <a:solidFill>
                <a:schemeClr val="accent2"/>
              </a:solidFill>
            </p:grpSpPr>
            <p:pic>
              <p:nvPicPr>
                <p:cNvPr id="47" name="Graphic 46" descr="Television with solid fill">
                  <a:extLst>
                    <a:ext uri="{FF2B5EF4-FFF2-40B4-BE49-F238E27FC236}">
                      <a16:creationId xmlns:a16="http://schemas.microsoft.com/office/drawing/2014/main" id="{198AC330-33CE-0DFE-174B-E93CE6B403B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533004" y="3571886"/>
                  <a:ext cx="914400" cy="914400"/>
                </a:xfrm>
                <a:prstGeom prst="rect">
                  <a:avLst/>
                </a:prstGeom>
              </p:spPr>
            </p:pic>
            <p:pic>
              <p:nvPicPr>
                <p:cNvPr id="48" name="Graphic 47" descr="Heart with pulse with solid fill">
                  <a:extLst>
                    <a:ext uri="{FF2B5EF4-FFF2-40B4-BE49-F238E27FC236}">
                      <a16:creationId xmlns:a16="http://schemas.microsoft.com/office/drawing/2014/main" id="{0ACCEAB1-AA86-55AB-2689-9FC66332D726}"/>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694858" y="3683636"/>
                  <a:ext cx="590691" cy="590691"/>
                </a:xfrm>
                <a:prstGeom prst="rect">
                  <a:avLst/>
                </a:prstGeom>
              </p:spPr>
            </p:pic>
          </p:grpSp>
        </p:grpSp>
      </p:grpSp>
      <p:sp>
        <p:nvSpPr>
          <p:cNvPr id="51" name="TextBox 50">
            <a:extLst>
              <a:ext uri="{FF2B5EF4-FFF2-40B4-BE49-F238E27FC236}">
                <a16:creationId xmlns:a16="http://schemas.microsoft.com/office/drawing/2014/main" id="{5DFEAAD2-FB6A-FBF5-8593-CB845B5DCCC3}"/>
              </a:ext>
            </a:extLst>
          </p:cNvPr>
          <p:cNvSpPr txBox="1"/>
          <p:nvPr/>
        </p:nvSpPr>
        <p:spPr>
          <a:xfrm>
            <a:off x="617231" y="6762906"/>
            <a:ext cx="3290405"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Efficiency-Driven Margins</a:t>
            </a:r>
          </a:p>
        </p:txBody>
      </p:sp>
      <p:cxnSp>
        <p:nvCxnSpPr>
          <p:cNvPr id="52" name="Straight Connector 51">
            <a:extLst>
              <a:ext uri="{FF2B5EF4-FFF2-40B4-BE49-F238E27FC236}">
                <a16:creationId xmlns:a16="http://schemas.microsoft.com/office/drawing/2014/main" id="{D2B96386-68FE-C7F9-13DF-17C925FAC789}"/>
              </a:ext>
            </a:extLst>
          </p:cNvPr>
          <p:cNvCxnSpPr>
            <a:cxnSpLocks/>
          </p:cNvCxnSpPr>
          <p:nvPr/>
        </p:nvCxnSpPr>
        <p:spPr>
          <a:xfrm>
            <a:off x="621607" y="6597401"/>
            <a:ext cx="3321662" cy="8046"/>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394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999AFF5-BE04-A1D9-84C6-10BE8894F26F}"/>
              </a:ext>
            </a:extLst>
          </p:cNvPr>
          <p:cNvSpPr txBox="1">
            <a:spLocks/>
          </p:cNvSpPr>
          <p:nvPr/>
        </p:nvSpPr>
        <p:spPr>
          <a:xfrm>
            <a:off x="544941" y="110101"/>
            <a:ext cx="5874521" cy="717286"/>
          </a:xfrm>
          <a:prstGeom prst="rect">
            <a:avLst/>
          </a:prstGeom>
        </p:spPr>
        <p:txBody>
          <a:bodyPr vert="horz" lIns="91440" tIns="45720" rIns="91440" bIns="45720" rtlCol="0" anchor="b">
            <a:noAutofit/>
          </a:bodyPr>
          <a:lstStyle>
            <a:lvl1pPr algn="ctr" defTabSz="756300" rtl="0" eaLnBrk="1" latinLnBrk="0" hangingPunct="1">
              <a:lnSpc>
                <a:spcPct val="90000"/>
              </a:lnSpc>
              <a:spcBef>
                <a:spcPct val="0"/>
              </a:spcBef>
              <a:buNone/>
              <a:defRPr sz="4963" kern="1200">
                <a:solidFill>
                  <a:schemeClr val="tx1"/>
                </a:solidFill>
                <a:latin typeface="+mj-lt"/>
                <a:ea typeface="+mj-ea"/>
                <a:cs typeface="+mj-cs"/>
              </a:defRPr>
            </a:lvl1pPr>
          </a:lstStyle>
          <a:p>
            <a:pPr algn="l"/>
            <a:r>
              <a:rPr lang="en-US" sz="2400" b="1" dirty="0">
                <a:latin typeface="Times New Roman" panose="02020603050405020304" pitchFamily="18" charset="0"/>
                <a:cs typeface="Times New Roman" panose="02020603050405020304" pitchFamily="18" charset="0"/>
              </a:rPr>
              <a:t>Subsector &amp; Company Primer</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D500EFB8-9955-E803-86BA-D0358BA50A3A}"/>
              </a:ext>
            </a:extLst>
          </p:cNvPr>
          <p:cNvCxnSpPr>
            <a:cxnSpLocks/>
          </p:cNvCxnSpPr>
          <p:nvPr/>
        </p:nvCxnSpPr>
        <p:spPr>
          <a:xfrm>
            <a:off x="266311" y="937488"/>
            <a:ext cx="729653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B7CF47F1-081F-D0EB-0214-1BC63C74AC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092" y="79656"/>
            <a:ext cx="570995" cy="74773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0454E58-3E0F-52EC-C8FB-230E7BB36EAD}"/>
              </a:ext>
            </a:extLst>
          </p:cNvPr>
          <p:cNvSpPr txBox="1"/>
          <p:nvPr/>
        </p:nvSpPr>
        <p:spPr>
          <a:xfrm>
            <a:off x="552508" y="527313"/>
            <a:ext cx="2930610"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Healthcare Sector | 2/06/2026</a:t>
            </a:r>
          </a:p>
        </p:txBody>
      </p:sp>
      <p:sp>
        <p:nvSpPr>
          <p:cNvPr id="8" name="Rectangle 7">
            <a:extLst>
              <a:ext uri="{FF2B5EF4-FFF2-40B4-BE49-F238E27FC236}">
                <a16:creationId xmlns:a16="http://schemas.microsoft.com/office/drawing/2014/main" id="{4C75CA4F-5D57-9C9E-03EA-045C460564E9}"/>
              </a:ext>
            </a:extLst>
          </p:cNvPr>
          <p:cNvSpPr/>
          <p:nvPr/>
        </p:nvSpPr>
        <p:spPr>
          <a:xfrm>
            <a:off x="-12320" y="-53339"/>
            <a:ext cx="302942" cy="1084325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D9D4598-2A62-6744-4A22-182F6118ED81}"/>
              </a:ext>
            </a:extLst>
          </p:cNvPr>
          <p:cNvSpPr txBox="1"/>
          <p:nvPr/>
        </p:nvSpPr>
        <p:spPr>
          <a:xfrm>
            <a:off x="266310" y="10460338"/>
            <a:ext cx="1829347"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Keller Bice</a:t>
            </a:r>
          </a:p>
        </p:txBody>
      </p:sp>
      <p:cxnSp>
        <p:nvCxnSpPr>
          <p:cNvPr id="10" name="Straight Connector 9">
            <a:extLst>
              <a:ext uri="{FF2B5EF4-FFF2-40B4-BE49-F238E27FC236}">
                <a16:creationId xmlns:a16="http://schemas.microsoft.com/office/drawing/2014/main" id="{F055CEC0-1B3A-5ADE-8435-97364770F92D}"/>
              </a:ext>
            </a:extLst>
          </p:cNvPr>
          <p:cNvCxnSpPr/>
          <p:nvPr/>
        </p:nvCxnSpPr>
        <p:spPr>
          <a:xfrm>
            <a:off x="290623" y="10473224"/>
            <a:ext cx="7296539"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6119C4A-D6D9-E069-FACC-86781939884D}"/>
              </a:ext>
            </a:extLst>
          </p:cNvPr>
          <p:cNvSpPr txBox="1"/>
          <p:nvPr/>
        </p:nvSpPr>
        <p:spPr>
          <a:xfrm>
            <a:off x="544941" y="1776163"/>
            <a:ext cx="3869897" cy="8731749"/>
          </a:xfrm>
          <a:prstGeom prst="rect">
            <a:avLst/>
          </a:prstGeom>
          <a:noFill/>
        </p:spPr>
        <p:txBody>
          <a:bodyPr wrap="square">
            <a:spAutoFit/>
          </a:bodyPr>
          <a:lstStyle/>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flow of cash begins when a patient enters an HCA facility and receives inpatient or outpatient care. At this stage, no cash is exchanged. Instead, the services provided are documented and coded for billing purposes. After care is delivered, HCA submits a claim based on diagnosis codes, procedure codes, length of stay, and the complexity of care provided. These claims are typically sent to one of four payors: commercial insurers, Medicare, Medicaid, or the patient directly.</a:t>
            </a:r>
          </a:p>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Reimbursement rates are negotiated in advance with commercial insurers and set by statute for Medicare and Medicaid. Commercial payers generally reimburse at the highest rates, while Medicaid reimburses at the lowest rates. Once payment is received, accounts receivable are converted into cash, and the funds are deposited into HCA’s operating accounts. During 2024 and 2025, this process generated approximately </a:t>
            </a:r>
            <a:r>
              <a:rPr lang="en-US" sz="10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$70-76 </a:t>
            </a: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billion in annual patient service revenue.</a:t>
            </a:r>
          </a:p>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Once cash is collected, it is used to fund HCA’s day-to-day operations, including employee salaries, medical supplies, utilities, and contracted services. Operating cash flow reflects how efficiently HCA converts patient care into usable cash. The largest single cash outflow is labor, which includes compensation for physicians, nurses, clinical staff, and administrative personnel. In 2025, labor costs exceeded $33 billion. Wage inflation and staffing shortages have increased overtime and reliance on contract labor has directly pressured their margins.</a:t>
            </a:r>
          </a:p>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next major outflow is payments to suppliers and vendors, including medical devices, pharmaceuticals, surgical supplies, IT systems, insurance, and utilities. These costs totaled approximately $11.5 billion in 2025. Though HCA benefits from its scale, which allows it to negotiate lower unit costs compared to smaller hospital operators.</a:t>
            </a:r>
          </a:p>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Cash is also used to meet financial obligations, including interest payments on debt and income tax payments. Together, interest and taxes totaled approximately $4.4 billion. After operating and financial obligations are met, HCA reinvests cash into the business through capital expenditures, including new hospitals, facility expansions, equipment upgrades, and technology systems. Capital expenditures totaled approximately $5.0-5.4 billion annually between 2024 and 2025, sustaining the physical infrastructure required to generate future revenue.</a:t>
            </a:r>
          </a:p>
          <a:p>
            <a:pPr marL="0" marR="0" algn="just">
              <a:lnSpc>
                <a:spcPct val="115000"/>
              </a:lnSpc>
              <a:spcAft>
                <a:spcPts val="800"/>
              </a:spcAft>
              <a:buNone/>
            </a:pPr>
            <a:r>
              <a:rPr lang="en-US" sz="10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Finally, excess cash is returned to shareholders through share repurchases and dividends. In fact, cash spent on buybacks has exceeded spending on new facilities, signaling management’s confidence in the maturity and stability of HCA’s hospital network. When internal cash generation is insufficient or when strategically advantageous, HCA raises external capital through long-term debt issuance or the sale of non-core assets. This external capital supplements operating cash and is used to fund share repurchases, acquisitions, or capital projects.</a:t>
            </a:r>
          </a:p>
        </p:txBody>
      </p:sp>
      <p:sp>
        <p:nvSpPr>
          <p:cNvPr id="26" name="TextBox 25">
            <a:extLst>
              <a:ext uri="{FF2B5EF4-FFF2-40B4-BE49-F238E27FC236}">
                <a16:creationId xmlns:a16="http://schemas.microsoft.com/office/drawing/2014/main" id="{5BBA3830-E1EB-9E3C-B854-41BEBA40DB2A}"/>
              </a:ext>
            </a:extLst>
          </p:cNvPr>
          <p:cNvSpPr txBox="1"/>
          <p:nvPr/>
        </p:nvSpPr>
        <p:spPr>
          <a:xfrm>
            <a:off x="544941" y="978332"/>
            <a:ext cx="3869897" cy="83099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Cashflow through HCA Hospitals</a:t>
            </a:r>
          </a:p>
        </p:txBody>
      </p:sp>
      <p:pic>
        <p:nvPicPr>
          <p:cNvPr id="3" name="Graphic 2" descr="Ambulance with solid fill">
            <a:extLst>
              <a:ext uri="{FF2B5EF4-FFF2-40B4-BE49-F238E27FC236}">
                <a16:creationId xmlns:a16="http://schemas.microsoft.com/office/drawing/2014/main" id="{F767B50F-3F52-9473-F612-E0B33DC240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9156" y="1875289"/>
            <a:ext cx="914400" cy="914400"/>
          </a:xfrm>
          <a:prstGeom prst="rect">
            <a:avLst/>
          </a:prstGeom>
        </p:spPr>
      </p:pic>
      <p:pic>
        <p:nvPicPr>
          <p:cNvPr id="13" name="Graphic 12" descr="Medical with solid fill">
            <a:extLst>
              <a:ext uri="{FF2B5EF4-FFF2-40B4-BE49-F238E27FC236}">
                <a16:creationId xmlns:a16="http://schemas.microsoft.com/office/drawing/2014/main" id="{B3723F62-3E4A-F784-2827-A4684167DC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26389" y="1875289"/>
            <a:ext cx="914400" cy="914400"/>
          </a:xfrm>
          <a:prstGeom prst="rect">
            <a:avLst/>
          </a:prstGeom>
        </p:spPr>
      </p:pic>
      <p:sp>
        <p:nvSpPr>
          <p:cNvPr id="14" name="Right Arrow 13">
            <a:extLst>
              <a:ext uri="{FF2B5EF4-FFF2-40B4-BE49-F238E27FC236}">
                <a16:creationId xmlns:a16="http://schemas.microsoft.com/office/drawing/2014/main" id="{C6B6EBFC-ACCD-780A-9554-0DAC96AC564B}"/>
              </a:ext>
            </a:extLst>
          </p:cNvPr>
          <p:cNvSpPr/>
          <p:nvPr/>
        </p:nvSpPr>
        <p:spPr>
          <a:xfrm>
            <a:off x="5676526" y="2227452"/>
            <a:ext cx="756893" cy="210074"/>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Contract with solid fill">
            <a:extLst>
              <a:ext uri="{FF2B5EF4-FFF2-40B4-BE49-F238E27FC236}">
                <a16:creationId xmlns:a16="http://schemas.microsoft.com/office/drawing/2014/main" id="{EC8AD96D-1890-2B8C-629B-6F55FEBC9F7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26389" y="3473723"/>
            <a:ext cx="914400" cy="914400"/>
          </a:xfrm>
          <a:prstGeom prst="rect">
            <a:avLst/>
          </a:prstGeom>
        </p:spPr>
      </p:pic>
      <p:pic>
        <p:nvPicPr>
          <p:cNvPr id="19" name="Graphic 18" descr="Weights Uneven with solid fill">
            <a:extLst>
              <a:ext uri="{FF2B5EF4-FFF2-40B4-BE49-F238E27FC236}">
                <a16:creationId xmlns:a16="http://schemas.microsoft.com/office/drawing/2014/main" id="{979B2EB3-7AA2-2F40-11EB-F1443C906D0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69156" y="3473723"/>
            <a:ext cx="914400" cy="914400"/>
          </a:xfrm>
          <a:prstGeom prst="rect">
            <a:avLst/>
          </a:prstGeom>
        </p:spPr>
      </p:pic>
      <p:sp>
        <p:nvSpPr>
          <p:cNvPr id="20" name="Right Arrow 19">
            <a:extLst>
              <a:ext uri="{FF2B5EF4-FFF2-40B4-BE49-F238E27FC236}">
                <a16:creationId xmlns:a16="http://schemas.microsoft.com/office/drawing/2014/main" id="{850073CD-E36B-7D4D-A169-C7EA87DE7192}"/>
              </a:ext>
            </a:extLst>
          </p:cNvPr>
          <p:cNvSpPr/>
          <p:nvPr/>
        </p:nvSpPr>
        <p:spPr>
          <a:xfrm>
            <a:off x="5676526" y="3825886"/>
            <a:ext cx="756893" cy="210074"/>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Elbow Connector 27">
            <a:extLst>
              <a:ext uri="{FF2B5EF4-FFF2-40B4-BE49-F238E27FC236}">
                <a16:creationId xmlns:a16="http://schemas.microsoft.com/office/drawing/2014/main" id="{28BD3B51-B276-AE29-B573-E915F4FAEA94}"/>
              </a:ext>
            </a:extLst>
          </p:cNvPr>
          <p:cNvCxnSpPr>
            <a:cxnSpLocks/>
          </p:cNvCxnSpPr>
          <p:nvPr/>
        </p:nvCxnSpPr>
        <p:spPr>
          <a:xfrm rot="10800000" flipV="1">
            <a:off x="5115245" y="2858327"/>
            <a:ext cx="1868344" cy="478115"/>
          </a:xfrm>
          <a:prstGeom prst="bentConnector3">
            <a:avLst>
              <a:gd name="adj1" fmla="val 99840"/>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3" name="Graphic 32" descr="Doctor male with solid fill">
            <a:extLst>
              <a:ext uri="{FF2B5EF4-FFF2-40B4-BE49-F238E27FC236}">
                <a16:creationId xmlns:a16="http://schemas.microsoft.com/office/drawing/2014/main" id="{3C38BEF9-75A5-2EF8-4AF8-64984F8C447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37563" y="4887118"/>
            <a:ext cx="914400" cy="914400"/>
          </a:xfrm>
          <a:prstGeom prst="rect">
            <a:avLst/>
          </a:prstGeom>
        </p:spPr>
      </p:pic>
      <p:pic>
        <p:nvPicPr>
          <p:cNvPr id="35" name="Graphic 34" descr="Money envelope with solid fill">
            <a:extLst>
              <a:ext uri="{FF2B5EF4-FFF2-40B4-BE49-F238E27FC236}">
                <a16:creationId xmlns:a16="http://schemas.microsoft.com/office/drawing/2014/main" id="{CAA243A3-4625-7A42-50D1-ECD0286801C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495649">
            <a:off x="4779084" y="4911088"/>
            <a:ext cx="914400" cy="914400"/>
          </a:xfrm>
          <a:prstGeom prst="rect">
            <a:avLst/>
          </a:prstGeom>
        </p:spPr>
      </p:pic>
      <p:cxnSp>
        <p:nvCxnSpPr>
          <p:cNvPr id="36" name="Elbow Connector 35">
            <a:extLst>
              <a:ext uri="{FF2B5EF4-FFF2-40B4-BE49-F238E27FC236}">
                <a16:creationId xmlns:a16="http://schemas.microsoft.com/office/drawing/2014/main" id="{9B52CE6C-F4FD-3D78-CBE5-48AFE7B3C391}"/>
              </a:ext>
            </a:extLst>
          </p:cNvPr>
          <p:cNvCxnSpPr>
            <a:cxnSpLocks/>
          </p:cNvCxnSpPr>
          <p:nvPr/>
        </p:nvCxnSpPr>
        <p:spPr>
          <a:xfrm rot="10800000" flipV="1">
            <a:off x="5149617" y="4569869"/>
            <a:ext cx="1868344" cy="478115"/>
          </a:xfrm>
          <a:prstGeom prst="bentConnector3">
            <a:avLst>
              <a:gd name="adj1" fmla="val 99840"/>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7" name="Right Arrow 36">
            <a:extLst>
              <a:ext uri="{FF2B5EF4-FFF2-40B4-BE49-F238E27FC236}">
                <a16:creationId xmlns:a16="http://schemas.microsoft.com/office/drawing/2014/main" id="{87F11A1E-FD82-DAE2-B8C3-8A710685A861}"/>
              </a:ext>
            </a:extLst>
          </p:cNvPr>
          <p:cNvSpPr/>
          <p:nvPr/>
        </p:nvSpPr>
        <p:spPr>
          <a:xfrm>
            <a:off x="5705341" y="5344318"/>
            <a:ext cx="756893" cy="210074"/>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Elbow Connector 37">
            <a:extLst>
              <a:ext uri="{FF2B5EF4-FFF2-40B4-BE49-F238E27FC236}">
                <a16:creationId xmlns:a16="http://schemas.microsoft.com/office/drawing/2014/main" id="{47F321F7-AF09-82D6-7729-647C21E0AF83}"/>
              </a:ext>
            </a:extLst>
          </p:cNvPr>
          <p:cNvCxnSpPr>
            <a:cxnSpLocks/>
          </p:cNvCxnSpPr>
          <p:nvPr/>
        </p:nvCxnSpPr>
        <p:spPr>
          <a:xfrm rot="10800000" flipV="1">
            <a:off x="6083787" y="5961400"/>
            <a:ext cx="934122" cy="464546"/>
          </a:xfrm>
          <a:prstGeom prst="bentConnector3">
            <a:avLst>
              <a:gd name="adj1" fmla="val 99904"/>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6" name="Group 45">
            <a:extLst>
              <a:ext uri="{FF2B5EF4-FFF2-40B4-BE49-F238E27FC236}">
                <a16:creationId xmlns:a16="http://schemas.microsoft.com/office/drawing/2014/main" id="{F6F58EFD-4243-BDBA-80DA-E729ABF750FF}"/>
              </a:ext>
            </a:extLst>
          </p:cNvPr>
          <p:cNvGrpSpPr/>
          <p:nvPr/>
        </p:nvGrpSpPr>
        <p:grpSpPr>
          <a:xfrm>
            <a:off x="4692416" y="6333949"/>
            <a:ext cx="914400" cy="914400"/>
            <a:chOff x="1530158" y="3524217"/>
            <a:chExt cx="914400" cy="914400"/>
          </a:xfrm>
          <a:solidFill>
            <a:schemeClr val="accent2"/>
          </a:solidFill>
        </p:grpSpPr>
        <p:pic>
          <p:nvPicPr>
            <p:cNvPr id="47" name="Graphic 46" descr="Television with solid fill">
              <a:extLst>
                <a:ext uri="{FF2B5EF4-FFF2-40B4-BE49-F238E27FC236}">
                  <a16:creationId xmlns:a16="http://schemas.microsoft.com/office/drawing/2014/main" id="{D14F7FBD-969A-85DC-D2DA-6F8B18E01B7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30158" y="3524217"/>
              <a:ext cx="914400" cy="914400"/>
            </a:xfrm>
            <a:prstGeom prst="rect">
              <a:avLst/>
            </a:prstGeom>
          </p:spPr>
        </p:pic>
        <p:pic>
          <p:nvPicPr>
            <p:cNvPr id="48" name="Graphic 47" descr="Heart with pulse with solid fill">
              <a:extLst>
                <a:ext uri="{FF2B5EF4-FFF2-40B4-BE49-F238E27FC236}">
                  <a16:creationId xmlns:a16="http://schemas.microsoft.com/office/drawing/2014/main" id="{F76C981C-2CFC-94CF-472F-97C3214A69B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694858" y="3683636"/>
              <a:ext cx="590691" cy="590691"/>
            </a:xfrm>
            <a:prstGeom prst="rect">
              <a:avLst/>
            </a:prstGeom>
          </p:spPr>
        </p:pic>
      </p:grpSp>
      <p:pic>
        <p:nvPicPr>
          <p:cNvPr id="50" name="Graphic 49" descr="Add with solid fill">
            <a:extLst>
              <a:ext uri="{FF2B5EF4-FFF2-40B4-BE49-F238E27FC236}">
                <a16:creationId xmlns:a16="http://schemas.microsoft.com/office/drawing/2014/main" id="{66C149BE-EC8B-B0C5-FF04-A2FF3572FC5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851512" y="6556439"/>
            <a:ext cx="464548" cy="464547"/>
          </a:xfrm>
          <a:prstGeom prst="rect">
            <a:avLst/>
          </a:prstGeom>
        </p:spPr>
      </p:pic>
      <p:pic>
        <p:nvPicPr>
          <p:cNvPr id="52" name="Graphic 51" descr="Adhesive Bandage with solid fill">
            <a:extLst>
              <a:ext uri="{FF2B5EF4-FFF2-40B4-BE49-F238E27FC236}">
                <a16:creationId xmlns:a16="http://schemas.microsoft.com/office/drawing/2014/main" id="{DB52FFCB-5070-9574-755F-4885C1F4C4B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433419" y="6372832"/>
            <a:ext cx="797738" cy="797738"/>
          </a:xfrm>
          <a:prstGeom prst="rect">
            <a:avLst/>
          </a:prstGeom>
        </p:spPr>
      </p:pic>
      <p:pic>
        <p:nvPicPr>
          <p:cNvPr id="62" name="Graphic 61" descr="Mortgage with solid fill">
            <a:extLst>
              <a:ext uri="{FF2B5EF4-FFF2-40B4-BE49-F238E27FC236}">
                <a16:creationId xmlns:a16="http://schemas.microsoft.com/office/drawing/2014/main" id="{6F43785D-568F-473F-CC02-D8AA34EA4AE0}"/>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658045" y="7839829"/>
            <a:ext cx="914400" cy="914400"/>
          </a:xfrm>
          <a:prstGeom prst="rect">
            <a:avLst/>
          </a:prstGeom>
        </p:spPr>
      </p:pic>
      <p:cxnSp>
        <p:nvCxnSpPr>
          <p:cNvPr id="64" name="Elbow Connector 63">
            <a:extLst>
              <a:ext uri="{FF2B5EF4-FFF2-40B4-BE49-F238E27FC236}">
                <a16:creationId xmlns:a16="http://schemas.microsoft.com/office/drawing/2014/main" id="{2E798E05-CAFF-A921-08AF-3B9B02A912B4}"/>
              </a:ext>
            </a:extLst>
          </p:cNvPr>
          <p:cNvCxnSpPr>
            <a:cxnSpLocks/>
          </p:cNvCxnSpPr>
          <p:nvPr/>
        </p:nvCxnSpPr>
        <p:spPr>
          <a:xfrm rot="10800000" flipV="1">
            <a:off x="5115967" y="7348827"/>
            <a:ext cx="1868344" cy="478115"/>
          </a:xfrm>
          <a:prstGeom prst="bentConnector3">
            <a:avLst>
              <a:gd name="adj1" fmla="val 99840"/>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5" name="Right Arrow 64">
            <a:extLst>
              <a:ext uri="{FF2B5EF4-FFF2-40B4-BE49-F238E27FC236}">
                <a16:creationId xmlns:a16="http://schemas.microsoft.com/office/drawing/2014/main" id="{38FE7AE1-D62C-D00F-71B1-BB26DF57C360}"/>
              </a:ext>
            </a:extLst>
          </p:cNvPr>
          <p:cNvSpPr/>
          <p:nvPr/>
        </p:nvSpPr>
        <p:spPr>
          <a:xfrm>
            <a:off x="5705341" y="8297029"/>
            <a:ext cx="756893" cy="210074"/>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Graphic 66" descr="Architecture with solid fill">
            <a:extLst>
              <a:ext uri="{FF2B5EF4-FFF2-40B4-BE49-F238E27FC236}">
                <a16:creationId xmlns:a16="http://schemas.microsoft.com/office/drawing/2014/main" id="{2730773D-D94F-6942-AB01-D671E8E2A048}"/>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595130" y="7896327"/>
            <a:ext cx="914400" cy="914400"/>
          </a:xfrm>
          <a:prstGeom prst="rect">
            <a:avLst/>
          </a:prstGeom>
        </p:spPr>
      </p:pic>
      <p:pic>
        <p:nvPicPr>
          <p:cNvPr id="70" name="Graphic 69" descr="Share with solid fill">
            <a:extLst>
              <a:ext uri="{FF2B5EF4-FFF2-40B4-BE49-F238E27FC236}">
                <a16:creationId xmlns:a16="http://schemas.microsoft.com/office/drawing/2014/main" id="{57EA1290-62DF-3FB8-887F-C51EC4AFDA8A}"/>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4779084" y="9448722"/>
            <a:ext cx="914400" cy="914400"/>
          </a:xfrm>
          <a:prstGeom prst="rect">
            <a:avLst/>
          </a:prstGeom>
        </p:spPr>
      </p:pic>
      <p:pic>
        <p:nvPicPr>
          <p:cNvPr id="72" name="Graphic 71" descr="Group of people with solid fill">
            <a:extLst>
              <a:ext uri="{FF2B5EF4-FFF2-40B4-BE49-F238E27FC236}">
                <a16:creationId xmlns:a16="http://schemas.microsoft.com/office/drawing/2014/main" id="{0E394AF0-537F-B308-B767-F3358224FF7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5606816" y="9414035"/>
            <a:ext cx="914400" cy="914400"/>
          </a:xfrm>
          <a:prstGeom prst="rect">
            <a:avLst/>
          </a:prstGeom>
        </p:spPr>
      </p:pic>
      <p:cxnSp>
        <p:nvCxnSpPr>
          <p:cNvPr id="75" name="Elbow Connector 74">
            <a:extLst>
              <a:ext uri="{FF2B5EF4-FFF2-40B4-BE49-F238E27FC236}">
                <a16:creationId xmlns:a16="http://schemas.microsoft.com/office/drawing/2014/main" id="{A779B7B6-7740-2BAA-B630-12B4F4ED18BB}"/>
              </a:ext>
            </a:extLst>
          </p:cNvPr>
          <p:cNvCxnSpPr>
            <a:cxnSpLocks/>
          </p:cNvCxnSpPr>
          <p:nvPr/>
        </p:nvCxnSpPr>
        <p:spPr>
          <a:xfrm rot="10800000" flipV="1">
            <a:off x="5143538" y="8992505"/>
            <a:ext cx="1868344" cy="478115"/>
          </a:xfrm>
          <a:prstGeom prst="bentConnector3">
            <a:avLst>
              <a:gd name="adj1" fmla="val 99840"/>
            </a:avLst>
          </a:prstGeom>
          <a:ln w="38100">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49351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124</TotalTime>
  <Words>1021</Words>
  <Application>Microsoft Macintosh PowerPoint</Application>
  <PresentationFormat>Custom</PresentationFormat>
  <Paragraphs>24</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Bice, Keller</dc:creator>
  <cp:lastModifiedBy>Bice, Keller</cp:lastModifiedBy>
  <cp:revision>26</cp:revision>
  <dcterms:created xsi:type="dcterms:W3CDTF">2026-02-06T23:44:38Z</dcterms:created>
  <dcterms:modified xsi:type="dcterms:W3CDTF">2026-02-08T05:50:30Z</dcterms:modified>
</cp:coreProperties>
</file>